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My project is NetWatch, a Real-Time Network Monitoring and Troubleshooting System. It is a Computer Networks project that monitors a real network and shows the results on a live dashboard. I am AKULA AJAY KUMAR.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NetWatch is a small web application that runs on a computer. It checks the network again and again and shows if the network is online, how fast it is and where a problem may be. It uses Python, Flask and plain web pages.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Suppose the internet becomes slow in a college computer lab. The administrator needs to know whether the problem is with the local network, gateway, DNS, internet connection, or a particular service. NetWatch helps identify these basic problems from one dashboard.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small networks have no monitoring tool. Professional tools are big and complex. I wanted a simple tool that students and small offices can run in one minute and that also teaches networking concepts like ping, DNS and ports.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objectives are: monitor connectivity in real time, measure latency and packet loss, check the gateway, DNS and services, show bandwidth, raise alerts, keep an event log and give simple troubleshooting help.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built a Flask server with a monitoring engine that runs in the background. It collects real data from the operating system and the network. The browser dashboard reads this data every few 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and Flask for the backend. The Python socket, subprocess and urllib libraries for the checks. psutil for interface statistics. HTML, CSS and JavaScript for the dashboard. No paid services, no API keys.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browser talks to Flask. Flask reads results from the monitoring engine. The engine uses helper functions that talk to the operating system network stack, which reaches the gateway, the internet and the services we configure.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checks run on different timers. Interface statistics every 2 seconds, gateway every 4, internet and services every 6, and DNS every 10 seconds. This avoids sending too much traffic.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NetWatch finds the default gateway from the routing table and pings it. For the internet it pings a public address and makes a small HTTPS request. If the gateway works but the internet does not, the problem may be upstream. If the gateway fails, the local path is the likely problem.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DNS, NetWatch resolves a domain and shows the IP and response time. For services, it makes one TCP connection to a host and port that the user configured. It never scans ports.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cycle sends three pings. Latency is the reply time. Packet loss is sent minus received, divided by sent, times one hundred. The graph keeps only the latest samples.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NetWatch reads the bytes sent and received on the selected interface twice and calculates the rate. Speed in Mbps is change in bytes times eight, divided by time, divided by one million. This is the traffic now, not the maximum line speed.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user presses Run Network Diagnostics. It tests the interface, gateway, DNS, internet and services in order, and shows PASS or FAIL with a possible cause and suggested steps. It does not claim to find every root cause.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screenshots from my computer while running the project: the dashboard, the latency graph, the service monitoring and the troubleshooter. (Insert your own screenshots here.)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wrote unit tests for IP detection, interfaces, gateway parsing, ping, DNS, ports, HTTP, bandwidth, packet loss, invalid input, timeouts and failure handling. I also did a live test: stopping and starting a local service made NetWatch show SERVICE DOWN and SERVICE RESTORED. (State your own Windows test results.)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Advantages: simple, free, runs locally, uses real measurements. Future scope: SNMP, multiple devices, a database for history, email or SMS alerts, and Grafana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NetWatch shows how Computer Networks concepts can solve a real problem. It gives an administrator a quick view of network health and a first step for troubleshooting. Thank you. I am ready for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B22"/>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9B8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914400"/>
            <a:ext cx="3291840" cy="3291840"/>
          </a:xfrm>
          <a:prstGeom prst="ellipse">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flipV="1">
            <a:off x="9601200" y="1554480"/>
            <a:ext cx="1371600" cy="457200"/>
          </a:xfrm>
          <a:prstGeom prst="line">
            <a:avLst/>
          </a:prstGeom>
          <a:ln w="31750">
            <a:solidFill>
              <a:srgbClr val="B4AED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601200" y="2011680"/>
            <a:ext cx="731520" cy="548640"/>
          </a:xfrm>
          <a:prstGeom prst="line">
            <a:avLst/>
          </a:prstGeom>
          <a:ln w="31750">
            <a:solidFill>
              <a:srgbClr val="B4AED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332720" y="1554480"/>
            <a:ext cx="640080" cy="1005840"/>
          </a:xfrm>
          <a:prstGeom prst="line">
            <a:avLst/>
          </a:prstGeom>
          <a:ln w="31750">
            <a:solidFill>
              <a:srgbClr val="B4AED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flipV="1">
            <a:off x="10332720" y="2560320"/>
            <a:ext cx="822960" cy="457200"/>
          </a:xfrm>
          <a:prstGeom prst="line">
            <a:avLst/>
          </a:prstGeom>
          <a:ln w="31750">
            <a:solidFill>
              <a:srgbClr val="B4AED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9784080" y="2560320"/>
            <a:ext cx="548640" cy="1005840"/>
          </a:xfrm>
          <a:prstGeom prst="line">
            <a:avLst/>
          </a:prstGeom>
          <a:ln w="31750">
            <a:solidFill>
              <a:srgbClr val="B4AED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601200" y="2011680"/>
            <a:ext cx="182880" cy="1554480"/>
          </a:xfrm>
          <a:prstGeom prst="line">
            <a:avLst/>
          </a:prstGeom>
          <a:ln w="31750">
            <a:solidFill>
              <a:srgbClr val="B4AED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972800" y="1554480"/>
            <a:ext cx="182880" cy="1463040"/>
          </a:xfrm>
          <a:prstGeom prst="line">
            <a:avLst/>
          </a:prstGeom>
          <a:ln w="31750">
            <a:solidFill>
              <a:srgbClr val="B4AED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9445752" y="1856232"/>
            <a:ext cx="310896" cy="310896"/>
          </a:xfrm>
          <a:prstGeom prst="ellipse">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817352" y="1399032"/>
            <a:ext cx="310896" cy="310896"/>
          </a:xfrm>
          <a:prstGeom prst="ellipse">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00232" y="2862072"/>
            <a:ext cx="310896" cy="310896"/>
          </a:xfrm>
          <a:prstGeom prst="ellipse">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28632" y="3410712"/>
            <a:ext cx="310896" cy="310896"/>
          </a:xfrm>
          <a:prstGeom prst="ellipse">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177272" y="2404872"/>
            <a:ext cx="310896" cy="310896"/>
          </a:xfrm>
          <a:prstGeom prst="ellipse">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1280160"/>
            <a:ext cx="7315200" cy="365760"/>
          </a:xfrm>
          <a:prstGeom prst="rect">
            <a:avLst/>
          </a:prstGeom>
          <a:noFill/>
        </p:spPr>
        <p:txBody>
          <a:bodyPr wrap="square" anchor="t" lIns="45720" rIns="45720" tIns="27432" bIns="27432">
            <a:spAutoFit/>
          </a:bodyPr>
          <a:lstStyle/>
          <a:p>
            <a:pPr algn="l"/>
            <a:r>
              <a:rPr sz="1500" b="1">
                <a:solidFill>
                  <a:srgbClr val="F2C14E"/>
                </a:solidFill>
                <a:latin typeface="Calibri"/>
              </a:rPr>
              <a:t>COMPUTER NETWORKS MINI PROJECT</a:t>
            </a:r>
          </a:p>
        </p:txBody>
      </p:sp>
      <p:sp>
        <p:nvSpPr>
          <p:cNvPr id="17" name="TextBox 16"/>
          <p:cNvSpPr txBox="1"/>
          <p:nvPr/>
        </p:nvSpPr>
        <p:spPr>
          <a:xfrm>
            <a:off x="822960" y="1737360"/>
            <a:ext cx="7772400" cy="1188720"/>
          </a:xfrm>
          <a:prstGeom prst="rect">
            <a:avLst/>
          </a:prstGeom>
          <a:noFill/>
        </p:spPr>
        <p:txBody>
          <a:bodyPr wrap="square" anchor="t" lIns="45720" rIns="45720" tIns="27432" bIns="27432">
            <a:spAutoFit/>
          </a:bodyPr>
          <a:lstStyle/>
          <a:p>
            <a:pPr algn="l"/>
            <a:r>
              <a:rPr sz="7200" b="1">
                <a:solidFill>
                  <a:srgbClr val="F1EEFB"/>
                </a:solidFill>
                <a:latin typeface="Calibri"/>
              </a:rPr>
              <a:t>NetWatch</a:t>
            </a:r>
          </a:p>
        </p:txBody>
      </p:sp>
      <p:sp>
        <p:nvSpPr>
          <p:cNvPr id="18" name="TextBox 17"/>
          <p:cNvSpPr txBox="1"/>
          <p:nvPr/>
        </p:nvSpPr>
        <p:spPr>
          <a:xfrm>
            <a:off x="822960" y="3017520"/>
            <a:ext cx="7680960" cy="1188720"/>
          </a:xfrm>
          <a:prstGeom prst="rect">
            <a:avLst/>
          </a:prstGeom>
          <a:noFill/>
        </p:spPr>
        <p:txBody>
          <a:bodyPr wrap="square" anchor="t" lIns="45720" rIns="45720" tIns="27432" bIns="27432">
            <a:spAutoFit/>
          </a:bodyPr>
          <a:lstStyle/>
          <a:p>
            <a:pPr algn="l"/>
            <a:r>
              <a:rPr sz="3000" b="1">
                <a:solidFill>
                  <a:srgbClr val="9B87F5"/>
                </a:solidFill>
                <a:latin typeface="Calibri"/>
              </a:rPr>
              <a:t>Real-Time Network Monitoring &amp; Troubleshooting System</a:t>
            </a:r>
          </a:p>
        </p:txBody>
      </p:sp>
      <p:sp>
        <p:nvSpPr>
          <p:cNvPr id="19" name="TextBox 18"/>
          <p:cNvSpPr txBox="1"/>
          <p:nvPr/>
        </p:nvSpPr>
        <p:spPr>
          <a:xfrm>
            <a:off x="822960" y="4663440"/>
            <a:ext cx="7315200" cy="1097280"/>
          </a:xfrm>
          <a:prstGeom prst="rect">
            <a:avLst/>
          </a:prstGeom>
          <a:noFill/>
        </p:spPr>
        <p:txBody>
          <a:bodyPr wrap="square" anchor="t" lIns="45720" rIns="45720" tIns="27432" bIns="27432">
            <a:spAutoFit/>
          </a:bodyPr>
          <a:lstStyle/>
          <a:p>
            <a:pPr algn="l"/>
            <a:r>
              <a:rPr sz="1600" b="0">
                <a:solidFill>
                  <a:srgbClr val="B4AED0"/>
                </a:solidFill>
                <a:latin typeface="Calibri"/>
              </a:rPr>
              <a:t>AKULA AJAY KUMAR</a:t>
            </a:r>
          </a:p>
          <a:p>
            <a:pPr algn="l">
              <a:spcBef>
                <a:spcPts val="800"/>
              </a:spcBef>
            </a:pPr>
            <a:r>
              <a:rPr sz="1600" b="0">
                <a:solidFill>
                  <a:srgbClr val="B4AED0"/>
                </a:solidFill>
                <a:latin typeface="Calibri"/>
              </a:rPr>
              <a:t>B.Tech CSE, CMR Technical Campus  |  [Batch / Section]</a:t>
            </a:r>
          </a:p>
          <a:p>
            <a:pPr algn="l">
              <a:spcBef>
                <a:spcPts val="800"/>
              </a:spcBef>
            </a:pPr>
            <a:r>
              <a:rPr sz="1600" b="0">
                <a:solidFill>
                  <a:srgbClr val="B4AED0"/>
                </a:solidFill>
                <a:latin typeface="Calibri"/>
              </a:rPr>
              <a:t>Guide: [Name of Project Guide]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B22"/>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9B8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65760"/>
          </a:xfrm>
          <a:prstGeom prst="rect">
            <a:avLst/>
          </a:prstGeom>
          <a:noFill/>
        </p:spPr>
        <p:txBody>
          <a:bodyPr wrap="square" anchor="t" lIns="45720" rIns="45720" tIns="27432" bIns="27432">
            <a:spAutoFit/>
          </a:bodyPr>
          <a:lstStyle/>
          <a:p>
            <a:pPr algn="l"/>
            <a:r>
              <a:rPr sz="1300" b="1">
                <a:solidFill>
                  <a:srgbClr val="F2C14E"/>
                </a:solidFill>
                <a:latin typeface="Calibri"/>
              </a:rPr>
              <a:t>INTRODUCTION</a:t>
            </a:r>
          </a:p>
        </p:txBody>
      </p:sp>
      <p:sp>
        <p:nvSpPr>
          <p:cNvPr id="4" name="TextBox 3"/>
          <p:cNvSpPr txBox="1"/>
          <p:nvPr/>
        </p:nvSpPr>
        <p:spPr>
          <a:xfrm>
            <a:off x="640080" y="640080"/>
            <a:ext cx="10789920" cy="822960"/>
          </a:xfrm>
          <a:prstGeom prst="rect">
            <a:avLst/>
          </a:prstGeom>
          <a:noFill/>
        </p:spPr>
        <p:txBody>
          <a:bodyPr wrap="square" anchor="t" lIns="45720" rIns="45720" tIns="27432" bIns="27432">
            <a:spAutoFit/>
          </a:bodyPr>
          <a:lstStyle/>
          <a:p>
            <a:pPr algn="l"/>
            <a:r>
              <a:rPr sz="3800" b="1">
                <a:solidFill>
                  <a:srgbClr val="F1EEFB"/>
                </a:solidFill>
                <a:latin typeface="Calibri"/>
              </a:rPr>
              <a:t>A live dashboard for network health</a:t>
            </a:r>
          </a:p>
        </p:txBody>
      </p:sp>
      <p:sp>
        <p:nvSpPr>
          <p:cNvPr id="5" name="TextBox 4"/>
          <p:cNvSpPr txBox="1"/>
          <p:nvPr/>
        </p:nvSpPr>
        <p:spPr>
          <a:xfrm>
            <a:off x="10607040" y="6400800"/>
            <a:ext cx="1280160" cy="274320"/>
          </a:xfrm>
          <a:prstGeom prst="rect">
            <a:avLst/>
          </a:prstGeom>
          <a:noFill/>
        </p:spPr>
        <p:txBody>
          <a:bodyPr wrap="square" anchor="t" lIns="45720" rIns="45720" tIns="27432" bIns="27432">
            <a:spAutoFit/>
          </a:bodyPr>
          <a:lstStyle/>
          <a:p>
            <a:pPr algn="r"/>
            <a:r>
              <a:rPr sz="1100" b="0">
                <a:solidFill>
                  <a:srgbClr val="B4AED0"/>
                </a:solidFill>
                <a:latin typeface="Calibri"/>
              </a:rPr>
              <a:t>2 / 18</a:t>
            </a:r>
          </a:p>
        </p:txBody>
      </p:sp>
      <p:sp>
        <p:nvSpPr>
          <p:cNvPr id="6" name="TextBox 5"/>
          <p:cNvSpPr txBox="1"/>
          <p:nvPr/>
        </p:nvSpPr>
        <p:spPr>
          <a:xfrm>
            <a:off x="640080" y="6400800"/>
            <a:ext cx="7315200" cy="274320"/>
          </a:xfrm>
          <a:prstGeom prst="rect">
            <a:avLst/>
          </a:prstGeom>
          <a:noFill/>
        </p:spPr>
        <p:txBody>
          <a:bodyPr wrap="square" anchor="t" lIns="45720" rIns="45720" tIns="27432" bIns="27432">
            <a:spAutoFit/>
          </a:bodyPr>
          <a:lstStyle/>
          <a:p>
            <a:pPr algn="l"/>
            <a:r>
              <a:rPr sz="1100" b="0">
                <a:solidFill>
                  <a:srgbClr val="B4AED0"/>
                </a:solidFill>
                <a:latin typeface="Calibri"/>
              </a:rPr>
              <a:t>NetWatch | Computer Networks Mini Project</a:t>
            </a:r>
          </a:p>
        </p:txBody>
      </p:sp>
      <p:sp>
        <p:nvSpPr>
          <p:cNvPr id="7" name="Rounded Rectangle 6"/>
          <p:cNvSpPr/>
          <p:nvPr/>
        </p:nvSpPr>
        <p:spPr>
          <a:xfrm>
            <a:off x="640080" y="1828800"/>
            <a:ext cx="3474720" cy="3474720"/>
          </a:xfrm>
          <a:prstGeom prst="roundRect">
            <a:avLst>
              <a:gd name="adj" fmla="val 8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965960"/>
            <a:ext cx="3108960" cy="457200"/>
          </a:xfrm>
          <a:prstGeom prst="rect">
            <a:avLst/>
          </a:prstGeom>
          <a:noFill/>
        </p:spPr>
        <p:txBody>
          <a:bodyPr wrap="square" anchor="t" lIns="45720" rIns="45720" tIns="27432" bIns="27432">
            <a:spAutoFit/>
          </a:bodyPr>
          <a:lstStyle/>
          <a:p>
            <a:pPr algn="l"/>
            <a:r>
              <a:rPr sz="2000" b="1">
                <a:solidFill>
                  <a:srgbClr val="F2C14E"/>
                </a:solidFill>
                <a:latin typeface="Calibri"/>
              </a:rPr>
              <a:t>What it is</a:t>
            </a:r>
          </a:p>
        </p:txBody>
      </p:sp>
      <p:sp>
        <p:nvSpPr>
          <p:cNvPr id="9" name="TextBox 8"/>
          <p:cNvSpPr txBox="1"/>
          <p:nvPr/>
        </p:nvSpPr>
        <p:spPr>
          <a:xfrm>
            <a:off x="822959" y="2514600"/>
            <a:ext cx="3108960" cy="2651760"/>
          </a:xfrm>
          <a:prstGeom prst="rect">
            <a:avLst/>
          </a:prstGeom>
          <a:noFill/>
        </p:spPr>
        <p:txBody>
          <a:bodyPr wrap="square" anchor="t" lIns="45720" rIns="45720" tIns="27432" bIns="27432">
            <a:spAutoFit/>
          </a:bodyPr>
          <a:lstStyle/>
          <a:p>
            <a:pPr algn="l"/>
            <a:r>
              <a:rPr sz="2200" b="0">
                <a:solidFill>
                  <a:srgbClr val="F1EEFB"/>
                </a:solidFill>
                <a:latin typeface="Calibri"/>
              </a:rPr>
              <a:t>A local web app that tests the real network again and again and shows the results live.</a:t>
            </a:r>
          </a:p>
        </p:txBody>
      </p:sp>
      <p:sp>
        <p:nvSpPr>
          <p:cNvPr id="10" name="Rounded Rectangle 9"/>
          <p:cNvSpPr/>
          <p:nvPr/>
        </p:nvSpPr>
        <p:spPr>
          <a:xfrm>
            <a:off x="4389120" y="1828800"/>
            <a:ext cx="3474720" cy="3474720"/>
          </a:xfrm>
          <a:prstGeom prst="roundRect">
            <a:avLst>
              <a:gd name="adj" fmla="val 8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965960"/>
            <a:ext cx="3108960" cy="457200"/>
          </a:xfrm>
          <a:prstGeom prst="rect">
            <a:avLst/>
          </a:prstGeom>
          <a:noFill/>
        </p:spPr>
        <p:txBody>
          <a:bodyPr wrap="square" anchor="t" lIns="45720" rIns="45720" tIns="27432" bIns="27432">
            <a:spAutoFit/>
          </a:bodyPr>
          <a:lstStyle/>
          <a:p>
            <a:pPr algn="l"/>
            <a:r>
              <a:rPr sz="2000" b="1">
                <a:solidFill>
                  <a:srgbClr val="F2C14E"/>
                </a:solidFill>
                <a:latin typeface="Calibri"/>
              </a:rPr>
              <a:t>What it checks</a:t>
            </a:r>
          </a:p>
        </p:txBody>
      </p:sp>
      <p:sp>
        <p:nvSpPr>
          <p:cNvPr id="12" name="TextBox 11"/>
          <p:cNvSpPr txBox="1"/>
          <p:nvPr/>
        </p:nvSpPr>
        <p:spPr>
          <a:xfrm>
            <a:off x="4572000" y="2514600"/>
            <a:ext cx="3108960" cy="2651760"/>
          </a:xfrm>
          <a:prstGeom prst="rect">
            <a:avLst/>
          </a:prstGeom>
          <a:noFill/>
        </p:spPr>
        <p:txBody>
          <a:bodyPr wrap="square" anchor="t" lIns="45720" rIns="45720" tIns="27432" bIns="27432">
            <a:spAutoFit/>
          </a:bodyPr>
          <a:lstStyle/>
          <a:p>
            <a:pPr algn="l"/>
            <a:r>
              <a:rPr sz="2200" b="0">
                <a:solidFill>
                  <a:srgbClr val="F1EEFB"/>
                </a:solidFill>
                <a:latin typeface="Calibri"/>
              </a:rPr>
              <a:t>Gateway, internet, DNS, latency, packet loss, bandwidth and chosen services.</a:t>
            </a:r>
          </a:p>
        </p:txBody>
      </p:sp>
      <p:sp>
        <p:nvSpPr>
          <p:cNvPr id="13" name="Rounded Rectangle 12"/>
          <p:cNvSpPr/>
          <p:nvPr/>
        </p:nvSpPr>
        <p:spPr>
          <a:xfrm>
            <a:off x="8138160" y="1828800"/>
            <a:ext cx="3474720" cy="3474720"/>
          </a:xfrm>
          <a:prstGeom prst="roundRect">
            <a:avLst>
              <a:gd name="adj" fmla="val 8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1965960"/>
            <a:ext cx="3108960" cy="457200"/>
          </a:xfrm>
          <a:prstGeom prst="rect">
            <a:avLst/>
          </a:prstGeom>
          <a:noFill/>
        </p:spPr>
        <p:txBody>
          <a:bodyPr wrap="square" anchor="t" lIns="45720" rIns="45720" tIns="27432" bIns="27432">
            <a:spAutoFit/>
          </a:bodyPr>
          <a:lstStyle/>
          <a:p>
            <a:pPr algn="l"/>
            <a:r>
              <a:rPr sz="2000" b="1">
                <a:solidFill>
                  <a:srgbClr val="F2C14E"/>
                </a:solidFill>
                <a:latin typeface="Calibri"/>
              </a:rPr>
              <a:t>Built with</a:t>
            </a:r>
          </a:p>
        </p:txBody>
      </p:sp>
      <p:sp>
        <p:nvSpPr>
          <p:cNvPr id="15" name="TextBox 14"/>
          <p:cNvSpPr txBox="1"/>
          <p:nvPr/>
        </p:nvSpPr>
        <p:spPr>
          <a:xfrm>
            <a:off x="8321040" y="2514600"/>
            <a:ext cx="3108960" cy="2651760"/>
          </a:xfrm>
          <a:prstGeom prst="rect">
            <a:avLst/>
          </a:prstGeom>
          <a:noFill/>
        </p:spPr>
        <p:txBody>
          <a:bodyPr wrap="square" anchor="t" lIns="45720" rIns="45720" tIns="27432" bIns="27432">
            <a:spAutoFit/>
          </a:bodyPr>
          <a:lstStyle/>
          <a:p>
            <a:pPr algn="l"/>
            <a:r>
              <a:rPr sz="2200" b="0">
                <a:solidFill>
                  <a:srgbClr val="F1EEFB"/>
                </a:solidFill>
                <a:latin typeface="Calibri"/>
              </a:rPr>
              <a:t>Python, Flask, psutil, HTML, CSS and JavaScript. Free. No cloud. No API keys.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B22"/>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9B8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65760"/>
          </a:xfrm>
          <a:prstGeom prst="rect">
            <a:avLst/>
          </a:prstGeom>
          <a:noFill/>
        </p:spPr>
        <p:txBody>
          <a:bodyPr wrap="square" anchor="t" lIns="45720" rIns="45720" tIns="27432" bIns="27432">
            <a:spAutoFit/>
          </a:bodyPr>
          <a:lstStyle/>
          <a:p>
            <a:pPr algn="l"/>
            <a:r>
              <a:rPr sz="1300" b="1">
                <a:solidFill>
                  <a:srgbClr val="F2C14E"/>
                </a:solidFill>
                <a:latin typeface="Calibri"/>
              </a:rPr>
              <a:t>REAL-WORLD PROBLEM</a:t>
            </a:r>
          </a:p>
        </p:txBody>
      </p:sp>
      <p:sp>
        <p:nvSpPr>
          <p:cNvPr id="4" name="TextBox 3"/>
          <p:cNvSpPr txBox="1"/>
          <p:nvPr/>
        </p:nvSpPr>
        <p:spPr>
          <a:xfrm>
            <a:off x="640080" y="640080"/>
            <a:ext cx="10789920" cy="822960"/>
          </a:xfrm>
          <a:prstGeom prst="rect">
            <a:avLst/>
          </a:prstGeom>
          <a:noFill/>
        </p:spPr>
        <p:txBody>
          <a:bodyPr wrap="square" anchor="t" lIns="45720" rIns="45720" tIns="27432" bIns="27432">
            <a:spAutoFit/>
          </a:bodyPr>
          <a:lstStyle/>
          <a:p>
            <a:pPr algn="l"/>
            <a:r>
              <a:rPr sz="3800" b="1">
                <a:solidFill>
                  <a:srgbClr val="F1EEFB"/>
                </a:solidFill>
                <a:latin typeface="Calibri"/>
              </a:rPr>
              <a:t>"The internet is slow." But why?</a:t>
            </a:r>
          </a:p>
        </p:txBody>
      </p:sp>
      <p:sp>
        <p:nvSpPr>
          <p:cNvPr id="5" name="TextBox 4"/>
          <p:cNvSpPr txBox="1"/>
          <p:nvPr/>
        </p:nvSpPr>
        <p:spPr>
          <a:xfrm>
            <a:off x="10607040" y="6400800"/>
            <a:ext cx="1280160" cy="274320"/>
          </a:xfrm>
          <a:prstGeom prst="rect">
            <a:avLst/>
          </a:prstGeom>
          <a:noFill/>
        </p:spPr>
        <p:txBody>
          <a:bodyPr wrap="square" anchor="t" lIns="45720" rIns="45720" tIns="27432" bIns="27432">
            <a:spAutoFit/>
          </a:bodyPr>
          <a:lstStyle/>
          <a:p>
            <a:pPr algn="r"/>
            <a:r>
              <a:rPr sz="1100" b="0">
                <a:solidFill>
                  <a:srgbClr val="B4AED0"/>
                </a:solidFill>
                <a:latin typeface="Calibri"/>
              </a:rPr>
              <a:t>3 / 18</a:t>
            </a:r>
          </a:p>
        </p:txBody>
      </p:sp>
      <p:sp>
        <p:nvSpPr>
          <p:cNvPr id="6" name="TextBox 5"/>
          <p:cNvSpPr txBox="1"/>
          <p:nvPr/>
        </p:nvSpPr>
        <p:spPr>
          <a:xfrm>
            <a:off x="640080" y="6400800"/>
            <a:ext cx="7315200" cy="274320"/>
          </a:xfrm>
          <a:prstGeom prst="rect">
            <a:avLst/>
          </a:prstGeom>
          <a:noFill/>
        </p:spPr>
        <p:txBody>
          <a:bodyPr wrap="square" anchor="t" lIns="45720" rIns="45720" tIns="27432" bIns="27432">
            <a:spAutoFit/>
          </a:bodyPr>
          <a:lstStyle/>
          <a:p>
            <a:pPr algn="l"/>
            <a:r>
              <a:rPr sz="1100" b="0">
                <a:solidFill>
                  <a:srgbClr val="B4AED0"/>
                </a:solidFill>
                <a:latin typeface="Calibri"/>
              </a:rPr>
              <a:t>NetWatch | Computer Networks Mini Project</a:t>
            </a:r>
          </a:p>
        </p:txBody>
      </p:sp>
      <p:sp>
        <p:nvSpPr>
          <p:cNvPr id="7" name="TextBox 6"/>
          <p:cNvSpPr txBox="1"/>
          <p:nvPr/>
        </p:nvSpPr>
        <p:spPr>
          <a:xfrm>
            <a:off x="640080" y="1645920"/>
            <a:ext cx="5486400" cy="457200"/>
          </a:xfrm>
          <a:prstGeom prst="rect">
            <a:avLst/>
          </a:prstGeom>
          <a:noFill/>
        </p:spPr>
        <p:txBody>
          <a:bodyPr wrap="square" anchor="t" lIns="45720" rIns="45720" tIns="27432" bIns="27432">
            <a:spAutoFit/>
          </a:bodyPr>
          <a:lstStyle/>
          <a:p>
            <a:pPr algn="l"/>
            <a:r>
              <a:rPr sz="2000" b="0">
                <a:solidFill>
                  <a:srgbClr val="B4AED0"/>
                </a:solidFill>
                <a:latin typeface="Calibri"/>
              </a:rPr>
              <a:t>Possible causes an administrator must separate:</a:t>
            </a:r>
          </a:p>
        </p:txBody>
      </p:sp>
      <p:sp>
        <p:nvSpPr>
          <p:cNvPr id="8" name="Oval 7"/>
          <p:cNvSpPr/>
          <p:nvPr/>
        </p:nvSpPr>
        <p:spPr>
          <a:xfrm>
            <a:off x="731520" y="2359152"/>
            <a:ext cx="292608" cy="292608"/>
          </a:xfrm>
          <a:prstGeom prst="ellipse">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2286000"/>
            <a:ext cx="5120640" cy="457200"/>
          </a:xfrm>
          <a:prstGeom prst="rect">
            <a:avLst/>
          </a:prstGeom>
          <a:noFill/>
        </p:spPr>
        <p:txBody>
          <a:bodyPr wrap="square" anchor="t" lIns="45720" rIns="45720" tIns="27432" bIns="27432">
            <a:spAutoFit/>
          </a:bodyPr>
          <a:lstStyle/>
          <a:p>
            <a:pPr algn="l"/>
            <a:r>
              <a:rPr sz="2200" b="0">
                <a:solidFill>
                  <a:srgbClr val="F1EEFB"/>
                </a:solidFill>
                <a:latin typeface="Calibri"/>
              </a:rPr>
              <a:t>Local network connection</a:t>
            </a:r>
          </a:p>
        </p:txBody>
      </p:sp>
      <p:sp>
        <p:nvSpPr>
          <p:cNvPr id="10" name="Oval 9"/>
          <p:cNvSpPr/>
          <p:nvPr/>
        </p:nvSpPr>
        <p:spPr>
          <a:xfrm>
            <a:off x="731520" y="3017520"/>
            <a:ext cx="292608" cy="292608"/>
          </a:xfrm>
          <a:prstGeom prst="ellipse">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2944368"/>
            <a:ext cx="5120640" cy="457200"/>
          </a:xfrm>
          <a:prstGeom prst="rect">
            <a:avLst/>
          </a:prstGeom>
          <a:noFill/>
        </p:spPr>
        <p:txBody>
          <a:bodyPr wrap="square" anchor="t" lIns="45720" rIns="45720" tIns="27432" bIns="27432">
            <a:spAutoFit/>
          </a:bodyPr>
          <a:lstStyle/>
          <a:p>
            <a:pPr algn="l"/>
            <a:r>
              <a:rPr sz="2200" b="0">
                <a:solidFill>
                  <a:srgbClr val="F1EEFB"/>
                </a:solidFill>
                <a:latin typeface="Calibri"/>
              </a:rPr>
              <a:t>Gateway / router</a:t>
            </a:r>
          </a:p>
        </p:txBody>
      </p:sp>
      <p:sp>
        <p:nvSpPr>
          <p:cNvPr id="12" name="Oval 11"/>
          <p:cNvSpPr/>
          <p:nvPr/>
        </p:nvSpPr>
        <p:spPr>
          <a:xfrm>
            <a:off x="731520" y="3675887"/>
            <a:ext cx="292608" cy="292608"/>
          </a:xfrm>
          <a:prstGeom prst="ellipse">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3602736"/>
            <a:ext cx="5120640" cy="457200"/>
          </a:xfrm>
          <a:prstGeom prst="rect">
            <a:avLst/>
          </a:prstGeom>
          <a:noFill/>
        </p:spPr>
        <p:txBody>
          <a:bodyPr wrap="square" anchor="t" lIns="45720" rIns="45720" tIns="27432" bIns="27432">
            <a:spAutoFit/>
          </a:bodyPr>
          <a:lstStyle/>
          <a:p>
            <a:pPr algn="l"/>
            <a:r>
              <a:rPr sz="2200" b="0">
                <a:solidFill>
                  <a:srgbClr val="F1EEFB"/>
                </a:solidFill>
                <a:latin typeface="Calibri"/>
              </a:rPr>
              <a:t>DNS</a:t>
            </a:r>
          </a:p>
        </p:txBody>
      </p:sp>
      <p:sp>
        <p:nvSpPr>
          <p:cNvPr id="14" name="Oval 13"/>
          <p:cNvSpPr/>
          <p:nvPr/>
        </p:nvSpPr>
        <p:spPr>
          <a:xfrm>
            <a:off x="731520" y="4334256"/>
            <a:ext cx="292608" cy="292608"/>
          </a:xfrm>
          <a:prstGeom prst="ellipse">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4261104"/>
            <a:ext cx="5120640" cy="457200"/>
          </a:xfrm>
          <a:prstGeom prst="rect">
            <a:avLst/>
          </a:prstGeom>
          <a:noFill/>
        </p:spPr>
        <p:txBody>
          <a:bodyPr wrap="square" anchor="t" lIns="45720" rIns="45720" tIns="27432" bIns="27432">
            <a:spAutoFit/>
          </a:bodyPr>
          <a:lstStyle/>
          <a:p>
            <a:pPr algn="l"/>
            <a:r>
              <a:rPr sz="2200" b="0">
                <a:solidFill>
                  <a:srgbClr val="F1EEFB"/>
                </a:solidFill>
                <a:latin typeface="Calibri"/>
              </a:rPr>
              <a:t>Internet connectivity</a:t>
            </a:r>
          </a:p>
        </p:txBody>
      </p:sp>
      <p:sp>
        <p:nvSpPr>
          <p:cNvPr id="16" name="Oval 15"/>
          <p:cNvSpPr/>
          <p:nvPr/>
        </p:nvSpPr>
        <p:spPr>
          <a:xfrm>
            <a:off x="731520" y="4992624"/>
            <a:ext cx="292608" cy="292608"/>
          </a:xfrm>
          <a:prstGeom prst="ellipse">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4919472"/>
            <a:ext cx="5120640" cy="457200"/>
          </a:xfrm>
          <a:prstGeom prst="rect">
            <a:avLst/>
          </a:prstGeom>
          <a:noFill/>
        </p:spPr>
        <p:txBody>
          <a:bodyPr wrap="square" anchor="t" lIns="45720" rIns="45720" tIns="27432" bIns="27432">
            <a:spAutoFit/>
          </a:bodyPr>
          <a:lstStyle/>
          <a:p>
            <a:pPr algn="l"/>
            <a:r>
              <a:rPr sz="2200" b="0">
                <a:solidFill>
                  <a:srgbClr val="F1EEFB"/>
                </a:solidFill>
                <a:latin typeface="Calibri"/>
              </a:rPr>
              <a:t>High latency or packet loss</a:t>
            </a:r>
          </a:p>
        </p:txBody>
      </p:sp>
      <p:sp>
        <p:nvSpPr>
          <p:cNvPr id="18" name="Oval 17"/>
          <p:cNvSpPr/>
          <p:nvPr/>
        </p:nvSpPr>
        <p:spPr>
          <a:xfrm>
            <a:off x="731520" y="5650992"/>
            <a:ext cx="292608" cy="292608"/>
          </a:xfrm>
          <a:prstGeom prst="ellipse">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88720" y="5577840"/>
            <a:ext cx="5120640" cy="457200"/>
          </a:xfrm>
          <a:prstGeom prst="rect">
            <a:avLst/>
          </a:prstGeom>
          <a:noFill/>
        </p:spPr>
        <p:txBody>
          <a:bodyPr wrap="square" anchor="t" lIns="45720" rIns="45720" tIns="27432" bIns="27432">
            <a:spAutoFit/>
          </a:bodyPr>
          <a:lstStyle/>
          <a:p>
            <a:pPr algn="l"/>
            <a:r>
              <a:rPr sz="2200" b="0">
                <a:solidFill>
                  <a:srgbClr val="F1EEFB"/>
                </a:solidFill>
                <a:latin typeface="Calibri"/>
              </a:rPr>
              <a:t>One server or service is down</a:t>
            </a:r>
          </a:p>
        </p:txBody>
      </p:sp>
      <p:sp>
        <p:nvSpPr>
          <p:cNvPr id="20" name="Rounded Rectangle 19"/>
          <p:cNvSpPr/>
          <p:nvPr/>
        </p:nvSpPr>
        <p:spPr>
          <a:xfrm>
            <a:off x="6949440" y="2011680"/>
            <a:ext cx="4663440" cy="3566160"/>
          </a:xfrm>
          <a:prstGeom prst="roundRect">
            <a:avLst>
              <a:gd name="adj" fmla="val 8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0" y="2148840"/>
            <a:ext cx="4297679" cy="457200"/>
          </a:xfrm>
          <a:prstGeom prst="rect">
            <a:avLst/>
          </a:prstGeom>
          <a:noFill/>
        </p:spPr>
        <p:txBody>
          <a:bodyPr wrap="square" anchor="t" lIns="45720" rIns="45720" tIns="27432" bIns="27432">
            <a:spAutoFit/>
          </a:bodyPr>
          <a:lstStyle/>
          <a:p>
            <a:pPr algn="l"/>
            <a:r>
              <a:rPr sz="2000" b="1">
                <a:solidFill>
                  <a:srgbClr val="F2C14E"/>
                </a:solidFill>
                <a:latin typeface="Calibri"/>
              </a:rPr>
              <a:t>Example: a college lab</a:t>
            </a:r>
          </a:p>
        </p:txBody>
      </p:sp>
      <p:sp>
        <p:nvSpPr>
          <p:cNvPr id="22" name="TextBox 21"/>
          <p:cNvSpPr txBox="1"/>
          <p:nvPr/>
        </p:nvSpPr>
        <p:spPr>
          <a:xfrm>
            <a:off x="7132320" y="2697480"/>
            <a:ext cx="4297679" cy="2743200"/>
          </a:xfrm>
          <a:prstGeom prst="rect">
            <a:avLst/>
          </a:prstGeom>
          <a:noFill/>
        </p:spPr>
        <p:txBody>
          <a:bodyPr wrap="square" anchor="t" lIns="45720" rIns="45720" tIns="27432" bIns="27432">
            <a:spAutoFit/>
          </a:bodyPr>
          <a:lstStyle/>
          <a:p>
            <a:pPr algn="l"/>
            <a:r>
              <a:rPr sz="2000" b="0">
                <a:solidFill>
                  <a:srgbClr val="F1EEFB"/>
                </a:solidFill>
                <a:latin typeface="Calibri"/>
              </a:rPr>
              <a:t>Students complain. The lab assistant opens NetWatch and sees which part of the path is failing, and when it started.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B22"/>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9B8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65760"/>
          </a:xfrm>
          <a:prstGeom prst="rect">
            <a:avLst/>
          </a:prstGeom>
          <a:noFill/>
        </p:spPr>
        <p:txBody>
          <a:bodyPr wrap="square" anchor="t" lIns="45720" rIns="45720" tIns="27432" bIns="27432">
            <a:spAutoFit/>
          </a:bodyPr>
          <a:lstStyle/>
          <a:p>
            <a:pPr algn="l"/>
            <a:r>
              <a:rPr sz="1300" b="1">
                <a:solidFill>
                  <a:srgbClr val="F2C14E"/>
                </a:solidFill>
                <a:latin typeface="Calibri"/>
              </a:rPr>
              <a:t>MOTIVATION</a:t>
            </a:r>
          </a:p>
        </p:txBody>
      </p:sp>
      <p:sp>
        <p:nvSpPr>
          <p:cNvPr id="4" name="TextBox 3"/>
          <p:cNvSpPr txBox="1"/>
          <p:nvPr/>
        </p:nvSpPr>
        <p:spPr>
          <a:xfrm>
            <a:off x="640080" y="640080"/>
            <a:ext cx="10789920" cy="822960"/>
          </a:xfrm>
          <a:prstGeom prst="rect">
            <a:avLst/>
          </a:prstGeom>
          <a:noFill/>
        </p:spPr>
        <p:txBody>
          <a:bodyPr wrap="square" anchor="t" lIns="45720" rIns="45720" tIns="27432" bIns="27432">
            <a:spAutoFit/>
          </a:bodyPr>
          <a:lstStyle/>
          <a:p>
            <a:pPr algn="l"/>
            <a:r>
              <a:rPr sz="3800" b="1">
                <a:solidFill>
                  <a:srgbClr val="F1EEFB"/>
                </a:solidFill>
                <a:latin typeface="Calibri"/>
              </a:rPr>
              <a:t>Simple tools are missing</a:t>
            </a:r>
          </a:p>
        </p:txBody>
      </p:sp>
      <p:sp>
        <p:nvSpPr>
          <p:cNvPr id="5" name="TextBox 4"/>
          <p:cNvSpPr txBox="1"/>
          <p:nvPr/>
        </p:nvSpPr>
        <p:spPr>
          <a:xfrm>
            <a:off x="10607040" y="6400800"/>
            <a:ext cx="1280160" cy="274320"/>
          </a:xfrm>
          <a:prstGeom prst="rect">
            <a:avLst/>
          </a:prstGeom>
          <a:noFill/>
        </p:spPr>
        <p:txBody>
          <a:bodyPr wrap="square" anchor="t" lIns="45720" rIns="45720" tIns="27432" bIns="27432">
            <a:spAutoFit/>
          </a:bodyPr>
          <a:lstStyle/>
          <a:p>
            <a:pPr algn="r"/>
            <a:r>
              <a:rPr sz="1100" b="0">
                <a:solidFill>
                  <a:srgbClr val="B4AED0"/>
                </a:solidFill>
                <a:latin typeface="Calibri"/>
              </a:rPr>
              <a:t>4 / 18</a:t>
            </a:r>
          </a:p>
        </p:txBody>
      </p:sp>
      <p:sp>
        <p:nvSpPr>
          <p:cNvPr id="6" name="TextBox 5"/>
          <p:cNvSpPr txBox="1"/>
          <p:nvPr/>
        </p:nvSpPr>
        <p:spPr>
          <a:xfrm>
            <a:off x="640080" y="6400800"/>
            <a:ext cx="7315200" cy="274320"/>
          </a:xfrm>
          <a:prstGeom prst="rect">
            <a:avLst/>
          </a:prstGeom>
          <a:noFill/>
        </p:spPr>
        <p:txBody>
          <a:bodyPr wrap="square" anchor="t" lIns="45720" rIns="45720" tIns="27432" bIns="27432">
            <a:spAutoFit/>
          </a:bodyPr>
          <a:lstStyle/>
          <a:p>
            <a:pPr algn="l"/>
            <a:r>
              <a:rPr sz="1100" b="0">
                <a:solidFill>
                  <a:srgbClr val="B4AED0"/>
                </a:solidFill>
                <a:latin typeface="Calibri"/>
              </a:rPr>
              <a:t>NetWatch | Computer Networks Mini Project</a:t>
            </a:r>
          </a:p>
        </p:txBody>
      </p:sp>
      <p:sp>
        <p:nvSpPr>
          <p:cNvPr id="7" name="Rounded Rectangle 6"/>
          <p:cNvSpPr/>
          <p:nvPr/>
        </p:nvSpPr>
        <p:spPr>
          <a:xfrm>
            <a:off x="640080" y="1828800"/>
            <a:ext cx="3474720" cy="3291840"/>
          </a:xfrm>
          <a:prstGeom prst="roundRect">
            <a:avLst>
              <a:gd name="adj" fmla="val 8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965960"/>
            <a:ext cx="3108960" cy="457200"/>
          </a:xfrm>
          <a:prstGeom prst="rect">
            <a:avLst/>
          </a:prstGeom>
          <a:noFill/>
        </p:spPr>
        <p:txBody>
          <a:bodyPr wrap="square" anchor="t" lIns="45720" rIns="45720" tIns="27432" bIns="27432">
            <a:spAutoFit/>
          </a:bodyPr>
          <a:lstStyle/>
          <a:p>
            <a:pPr algn="l"/>
            <a:r>
              <a:rPr sz="2000" b="1">
                <a:solidFill>
                  <a:srgbClr val="F2C14E"/>
                </a:solidFill>
                <a:latin typeface="Calibri"/>
              </a:rPr>
              <a:t>Commands</a:t>
            </a:r>
          </a:p>
        </p:txBody>
      </p:sp>
      <p:sp>
        <p:nvSpPr>
          <p:cNvPr id="9" name="TextBox 8"/>
          <p:cNvSpPr txBox="1"/>
          <p:nvPr/>
        </p:nvSpPr>
        <p:spPr>
          <a:xfrm>
            <a:off x="822959" y="2514600"/>
            <a:ext cx="3108960" cy="2468880"/>
          </a:xfrm>
          <a:prstGeom prst="rect">
            <a:avLst/>
          </a:prstGeom>
          <a:noFill/>
        </p:spPr>
        <p:txBody>
          <a:bodyPr wrap="square" anchor="t" lIns="45720" rIns="45720" tIns="27432" bIns="27432">
            <a:spAutoFit/>
          </a:bodyPr>
          <a:lstStyle/>
          <a:p>
            <a:pPr algn="l"/>
            <a:r>
              <a:rPr sz="2200" b="0">
                <a:solidFill>
                  <a:srgbClr val="F1EEFB"/>
                </a:solidFill>
                <a:latin typeface="Calibri"/>
              </a:rPr>
              <a:t>ping, ipconfig, nslookup: one answer at a time, no history.</a:t>
            </a:r>
          </a:p>
        </p:txBody>
      </p:sp>
      <p:sp>
        <p:nvSpPr>
          <p:cNvPr id="10" name="Rounded Rectangle 9"/>
          <p:cNvSpPr/>
          <p:nvPr/>
        </p:nvSpPr>
        <p:spPr>
          <a:xfrm>
            <a:off x="4389120" y="1828800"/>
            <a:ext cx="3474720" cy="3291840"/>
          </a:xfrm>
          <a:prstGeom prst="roundRect">
            <a:avLst>
              <a:gd name="adj" fmla="val 8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965960"/>
            <a:ext cx="3108960" cy="457200"/>
          </a:xfrm>
          <a:prstGeom prst="rect">
            <a:avLst/>
          </a:prstGeom>
          <a:noFill/>
        </p:spPr>
        <p:txBody>
          <a:bodyPr wrap="square" anchor="t" lIns="45720" rIns="45720" tIns="27432" bIns="27432">
            <a:spAutoFit/>
          </a:bodyPr>
          <a:lstStyle/>
          <a:p>
            <a:pPr algn="l"/>
            <a:r>
              <a:rPr sz="2000" b="1">
                <a:solidFill>
                  <a:srgbClr val="F2C14E"/>
                </a:solidFill>
                <a:latin typeface="Calibri"/>
              </a:rPr>
              <a:t>Enterprise tools</a:t>
            </a:r>
          </a:p>
        </p:txBody>
      </p:sp>
      <p:sp>
        <p:nvSpPr>
          <p:cNvPr id="12" name="TextBox 11"/>
          <p:cNvSpPr txBox="1"/>
          <p:nvPr/>
        </p:nvSpPr>
        <p:spPr>
          <a:xfrm>
            <a:off x="4572000" y="2514600"/>
            <a:ext cx="3108960" cy="2468880"/>
          </a:xfrm>
          <a:prstGeom prst="rect">
            <a:avLst/>
          </a:prstGeom>
          <a:noFill/>
        </p:spPr>
        <p:txBody>
          <a:bodyPr wrap="square" anchor="t" lIns="45720" rIns="45720" tIns="27432" bIns="27432">
            <a:spAutoFit/>
          </a:bodyPr>
          <a:lstStyle/>
          <a:p>
            <a:pPr algn="l"/>
            <a:r>
              <a:rPr sz="2200" b="0">
                <a:solidFill>
                  <a:srgbClr val="F1EEFB"/>
                </a:solidFill>
                <a:latin typeface="Calibri"/>
              </a:rPr>
              <a:t>Powerful but heavy: servers, setup time, often paid.</a:t>
            </a:r>
          </a:p>
        </p:txBody>
      </p:sp>
      <p:sp>
        <p:nvSpPr>
          <p:cNvPr id="13" name="Rounded Rectangle 12"/>
          <p:cNvSpPr/>
          <p:nvPr/>
        </p:nvSpPr>
        <p:spPr>
          <a:xfrm>
            <a:off x="8138160" y="1828800"/>
            <a:ext cx="3474720" cy="3291840"/>
          </a:xfrm>
          <a:prstGeom prst="roundRect">
            <a:avLst>
              <a:gd name="adj" fmla="val 8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1965960"/>
            <a:ext cx="3108960" cy="457200"/>
          </a:xfrm>
          <a:prstGeom prst="rect">
            <a:avLst/>
          </a:prstGeom>
          <a:noFill/>
        </p:spPr>
        <p:txBody>
          <a:bodyPr wrap="square" anchor="t" lIns="45720" rIns="45720" tIns="27432" bIns="27432">
            <a:spAutoFit/>
          </a:bodyPr>
          <a:lstStyle/>
          <a:p>
            <a:pPr algn="l"/>
            <a:r>
              <a:rPr sz="2000" b="1">
                <a:solidFill>
                  <a:srgbClr val="4ADE80"/>
                </a:solidFill>
                <a:latin typeface="Calibri"/>
              </a:rPr>
              <a:t>NetWatch</a:t>
            </a:r>
          </a:p>
        </p:txBody>
      </p:sp>
      <p:sp>
        <p:nvSpPr>
          <p:cNvPr id="15" name="TextBox 14"/>
          <p:cNvSpPr txBox="1"/>
          <p:nvPr/>
        </p:nvSpPr>
        <p:spPr>
          <a:xfrm>
            <a:off x="8321040" y="2514600"/>
            <a:ext cx="3108960" cy="2468880"/>
          </a:xfrm>
          <a:prstGeom prst="rect">
            <a:avLst/>
          </a:prstGeom>
          <a:noFill/>
        </p:spPr>
        <p:txBody>
          <a:bodyPr wrap="square" anchor="t" lIns="45720" rIns="45720" tIns="27432" bIns="27432">
            <a:spAutoFit/>
          </a:bodyPr>
          <a:lstStyle/>
          <a:p>
            <a:pPr algn="l"/>
            <a:r>
              <a:rPr sz="2200" b="0">
                <a:solidFill>
                  <a:srgbClr val="F1EEFB"/>
                </a:solidFill>
                <a:latin typeface="Calibri"/>
              </a:rPr>
              <a:t>One minute to start. Real data. Easy to explain.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B22"/>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9B8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65760"/>
          </a:xfrm>
          <a:prstGeom prst="rect">
            <a:avLst/>
          </a:prstGeom>
          <a:noFill/>
        </p:spPr>
        <p:txBody>
          <a:bodyPr wrap="square" anchor="t" lIns="45720" rIns="45720" tIns="27432" bIns="27432">
            <a:spAutoFit/>
          </a:bodyPr>
          <a:lstStyle/>
          <a:p>
            <a:pPr algn="l"/>
            <a:r>
              <a:rPr sz="1300" b="1">
                <a:solidFill>
                  <a:srgbClr val="F2C14E"/>
                </a:solidFill>
                <a:latin typeface="Calibri"/>
              </a:rPr>
              <a:t>GOALS</a:t>
            </a:r>
          </a:p>
        </p:txBody>
      </p:sp>
      <p:sp>
        <p:nvSpPr>
          <p:cNvPr id="4" name="TextBox 3"/>
          <p:cNvSpPr txBox="1"/>
          <p:nvPr/>
        </p:nvSpPr>
        <p:spPr>
          <a:xfrm>
            <a:off x="640080" y="640080"/>
            <a:ext cx="10789920" cy="822960"/>
          </a:xfrm>
          <a:prstGeom prst="rect">
            <a:avLst/>
          </a:prstGeom>
          <a:noFill/>
        </p:spPr>
        <p:txBody>
          <a:bodyPr wrap="square" anchor="t" lIns="45720" rIns="45720" tIns="27432" bIns="27432">
            <a:spAutoFit/>
          </a:bodyPr>
          <a:lstStyle/>
          <a:p>
            <a:pPr algn="l"/>
            <a:r>
              <a:rPr sz="3800" b="1">
                <a:solidFill>
                  <a:srgbClr val="F1EEFB"/>
                </a:solidFill>
                <a:latin typeface="Calibri"/>
              </a:rPr>
              <a:t>Objectives</a:t>
            </a:r>
          </a:p>
        </p:txBody>
      </p:sp>
      <p:sp>
        <p:nvSpPr>
          <p:cNvPr id="5" name="TextBox 4"/>
          <p:cNvSpPr txBox="1"/>
          <p:nvPr/>
        </p:nvSpPr>
        <p:spPr>
          <a:xfrm>
            <a:off x="10607040" y="6400800"/>
            <a:ext cx="1280160" cy="274320"/>
          </a:xfrm>
          <a:prstGeom prst="rect">
            <a:avLst/>
          </a:prstGeom>
          <a:noFill/>
        </p:spPr>
        <p:txBody>
          <a:bodyPr wrap="square" anchor="t" lIns="45720" rIns="45720" tIns="27432" bIns="27432">
            <a:spAutoFit/>
          </a:bodyPr>
          <a:lstStyle/>
          <a:p>
            <a:pPr algn="r"/>
            <a:r>
              <a:rPr sz="1100" b="0">
                <a:solidFill>
                  <a:srgbClr val="B4AED0"/>
                </a:solidFill>
                <a:latin typeface="Calibri"/>
              </a:rPr>
              <a:t>5 / 18</a:t>
            </a:r>
          </a:p>
        </p:txBody>
      </p:sp>
      <p:sp>
        <p:nvSpPr>
          <p:cNvPr id="6" name="TextBox 5"/>
          <p:cNvSpPr txBox="1"/>
          <p:nvPr/>
        </p:nvSpPr>
        <p:spPr>
          <a:xfrm>
            <a:off x="640080" y="6400800"/>
            <a:ext cx="7315200" cy="274320"/>
          </a:xfrm>
          <a:prstGeom prst="rect">
            <a:avLst/>
          </a:prstGeom>
          <a:noFill/>
        </p:spPr>
        <p:txBody>
          <a:bodyPr wrap="square" anchor="t" lIns="45720" rIns="45720" tIns="27432" bIns="27432">
            <a:spAutoFit/>
          </a:bodyPr>
          <a:lstStyle/>
          <a:p>
            <a:pPr algn="l"/>
            <a:r>
              <a:rPr sz="1100" b="0">
                <a:solidFill>
                  <a:srgbClr val="B4AED0"/>
                </a:solidFill>
                <a:latin typeface="Calibri"/>
              </a:rPr>
              <a:t>NetWatch | Computer Networks Mini Project</a:t>
            </a:r>
          </a:p>
        </p:txBody>
      </p:sp>
      <p:sp>
        <p:nvSpPr>
          <p:cNvPr id="7" name="Rounded Rectangle 6"/>
          <p:cNvSpPr/>
          <p:nvPr/>
        </p:nvSpPr>
        <p:spPr>
          <a:xfrm>
            <a:off x="640080" y="1737360"/>
            <a:ext cx="5303520" cy="1234440"/>
          </a:xfrm>
          <a:prstGeom prst="roundRect">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737360"/>
            <a:ext cx="822960" cy="1234440"/>
          </a:xfrm>
          <a:prstGeom prst="rect">
            <a:avLst/>
          </a:prstGeom>
          <a:noFill/>
        </p:spPr>
        <p:txBody>
          <a:bodyPr wrap="square" anchor="ctr" lIns="45720" rIns="45720" tIns="27432" bIns="27432">
            <a:spAutoFit/>
          </a:bodyPr>
          <a:lstStyle/>
          <a:p>
            <a:pPr algn="l"/>
            <a:r>
              <a:rPr sz="4000" b="1">
                <a:solidFill>
                  <a:srgbClr val="F2C14E"/>
                </a:solidFill>
                <a:latin typeface="Calibri"/>
              </a:rPr>
              <a:t>1</a:t>
            </a:r>
          </a:p>
        </p:txBody>
      </p:sp>
      <p:sp>
        <p:nvSpPr>
          <p:cNvPr id="9" name="TextBox 8"/>
          <p:cNvSpPr txBox="1"/>
          <p:nvPr/>
        </p:nvSpPr>
        <p:spPr>
          <a:xfrm>
            <a:off x="1645920" y="1737360"/>
            <a:ext cx="4114800" cy="1234440"/>
          </a:xfrm>
          <a:prstGeom prst="rect">
            <a:avLst/>
          </a:prstGeom>
          <a:noFill/>
        </p:spPr>
        <p:txBody>
          <a:bodyPr wrap="square" anchor="ctr" lIns="45720" rIns="45720" tIns="27432" bIns="27432">
            <a:spAutoFit/>
          </a:bodyPr>
          <a:lstStyle/>
          <a:p>
            <a:pPr algn="l"/>
            <a:r>
              <a:rPr sz="2200" b="0">
                <a:solidFill>
                  <a:srgbClr val="F1EEFB"/>
                </a:solidFill>
                <a:latin typeface="Calibri"/>
              </a:rPr>
              <a:t>Monitor connectivity in real time</a:t>
            </a:r>
          </a:p>
        </p:txBody>
      </p:sp>
      <p:sp>
        <p:nvSpPr>
          <p:cNvPr id="10" name="Rounded Rectangle 9"/>
          <p:cNvSpPr/>
          <p:nvPr/>
        </p:nvSpPr>
        <p:spPr>
          <a:xfrm>
            <a:off x="6217920" y="1737360"/>
            <a:ext cx="5303520" cy="1234440"/>
          </a:xfrm>
          <a:prstGeom prst="roundRect">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737360"/>
            <a:ext cx="822960" cy="1234440"/>
          </a:xfrm>
          <a:prstGeom prst="rect">
            <a:avLst/>
          </a:prstGeom>
          <a:noFill/>
        </p:spPr>
        <p:txBody>
          <a:bodyPr wrap="square" anchor="ctr" lIns="45720" rIns="45720" tIns="27432" bIns="27432">
            <a:spAutoFit/>
          </a:bodyPr>
          <a:lstStyle/>
          <a:p>
            <a:pPr algn="l"/>
            <a:r>
              <a:rPr sz="4000" b="1">
                <a:solidFill>
                  <a:srgbClr val="F2C14E"/>
                </a:solidFill>
                <a:latin typeface="Calibri"/>
              </a:rPr>
              <a:t>2</a:t>
            </a:r>
          </a:p>
        </p:txBody>
      </p:sp>
      <p:sp>
        <p:nvSpPr>
          <p:cNvPr id="12" name="TextBox 11"/>
          <p:cNvSpPr txBox="1"/>
          <p:nvPr/>
        </p:nvSpPr>
        <p:spPr>
          <a:xfrm>
            <a:off x="7223760" y="1737360"/>
            <a:ext cx="4114800" cy="1234440"/>
          </a:xfrm>
          <a:prstGeom prst="rect">
            <a:avLst/>
          </a:prstGeom>
          <a:noFill/>
        </p:spPr>
        <p:txBody>
          <a:bodyPr wrap="square" anchor="ctr" lIns="45720" rIns="45720" tIns="27432" bIns="27432">
            <a:spAutoFit/>
          </a:bodyPr>
          <a:lstStyle/>
          <a:p>
            <a:pPr algn="l"/>
            <a:r>
              <a:rPr sz="2200" b="0">
                <a:solidFill>
                  <a:srgbClr val="F1EEFB"/>
                </a:solidFill>
                <a:latin typeface="Calibri"/>
              </a:rPr>
              <a:t>Measure latency and packet loss</a:t>
            </a:r>
          </a:p>
        </p:txBody>
      </p:sp>
      <p:sp>
        <p:nvSpPr>
          <p:cNvPr id="13" name="Rounded Rectangle 12"/>
          <p:cNvSpPr/>
          <p:nvPr/>
        </p:nvSpPr>
        <p:spPr>
          <a:xfrm>
            <a:off x="640080" y="3246120"/>
            <a:ext cx="5303520" cy="1234440"/>
          </a:xfrm>
          <a:prstGeom prst="roundRect">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3246120"/>
            <a:ext cx="822960" cy="1234440"/>
          </a:xfrm>
          <a:prstGeom prst="rect">
            <a:avLst/>
          </a:prstGeom>
          <a:noFill/>
        </p:spPr>
        <p:txBody>
          <a:bodyPr wrap="square" anchor="ctr" lIns="45720" rIns="45720" tIns="27432" bIns="27432">
            <a:spAutoFit/>
          </a:bodyPr>
          <a:lstStyle/>
          <a:p>
            <a:pPr algn="l"/>
            <a:r>
              <a:rPr sz="4000" b="1">
                <a:solidFill>
                  <a:srgbClr val="F2C14E"/>
                </a:solidFill>
                <a:latin typeface="Calibri"/>
              </a:rPr>
              <a:t>3</a:t>
            </a:r>
          </a:p>
        </p:txBody>
      </p:sp>
      <p:sp>
        <p:nvSpPr>
          <p:cNvPr id="15" name="TextBox 14"/>
          <p:cNvSpPr txBox="1"/>
          <p:nvPr/>
        </p:nvSpPr>
        <p:spPr>
          <a:xfrm>
            <a:off x="1645920" y="3246120"/>
            <a:ext cx="4114800" cy="1234440"/>
          </a:xfrm>
          <a:prstGeom prst="rect">
            <a:avLst/>
          </a:prstGeom>
          <a:noFill/>
        </p:spPr>
        <p:txBody>
          <a:bodyPr wrap="square" anchor="ctr" lIns="45720" rIns="45720" tIns="27432" bIns="27432">
            <a:spAutoFit/>
          </a:bodyPr>
          <a:lstStyle/>
          <a:p>
            <a:pPr algn="l"/>
            <a:r>
              <a:rPr sz="2200" b="0">
                <a:solidFill>
                  <a:srgbClr val="F1EEFB"/>
                </a:solidFill>
                <a:latin typeface="Calibri"/>
              </a:rPr>
              <a:t>Check gateway, DNS and services</a:t>
            </a:r>
          </a:p>
        </p:txBody>
      </p:sp>
      <p:sp>
        <p:nvSpPr>
          <p:cNvPr id="16" name="Rounded Rectangle 15"/>
          <p:cNvSpPr/>
          <p:nvPr/>
        </p:nvSpPr>
        <p:spPr>
          <a:xfrm>
            <a:off x="6217920" y="3246120"/>
            <a:ext cx="5303520" cy="1234440"/>
          </a:xfrm>
          <a:prstGeom prst="roundRect">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246120"/>
            <a:ext cx="822960" cy="1234440"/>
          </a:xfrm>
          <a:prstGeom prst="rect">
            <a:avLst/>
          </a:prstGeom>
          <a:noFill/>
        </p:spPr>
        <p:txBody>
          <a:bodyPr wrap="square" anchor="ctr" lIns="45720" rIns="45720" tIns="27432" bIns="27432">
            <a:spAutoFit/>
          </a:bodyPr>
          <a:lstStyle/>
          <a:p>
            <a:pPr algn="l"/>
            <a:r>
              <a:rPr sz="4000" b="1">
                <a:solidFill>
                  <a:srgbClr val="F2C14E"/>
                </a:solidFill>
                <a:latin typeface="Calibri"/>
              </a:rPr>
              <a:t>4</a:t>
            </a:r>
          </a:p>
        </p:txBody>
      </p:sp>
      <p:sp>
        <p:nvSpPr>
          <p:cNvPr id="18" name="TextBox 17"/>
          <p:cNvSpPr txBox="1"/>
          <p:nvPr/>
        </p:nvSpPr>
        <p:spPr>
          <a:xfrm>
            <a:off x="7223760" y="3246120"/>
            <a:ext cx="4114800" cy="1234440"/>
          </a:xfrm>
          <a:prstGeom prst="rect">
            <a:avLst/>
          </a:prstGeom>
          <a:noFill/>
        </p:spPr>
        <p:txBody>
          <a:bodyPr wrap="square" anchor="ctr" lIns="45720" rIns="45720" tIns="27432" bIns="27432">
            <a:spAutoFit/>
          </a:bodyPr>
          <a:lstStyle/>
          <a:p>
            <a:pPr algn="l"/>
            <a:r>
              <a:rPr sz="2200" b="0">
                <a:solidFill>
                  <a:srgbClr val="F1EEFB"/>
                </a:solidFill>
                <a:latin typeface="Calibri"/>
              </a:rPr>
              <a:t>Show live bandwidth</a:t>
            </a:r>
          </a:p>
        </p:txBody>
      </p:sp>
      <p:sp>
        <p:nvSpPr>
          <p:cNvPr id="19" name="Rounded Rectangle 18"/>
          <p:cNvSpPr/>
          <p:nvPr/>
        </p:nvSpPr>
        <p:spPr>
          <a:xfrm>
            <a:off x="640080" y="4754879"/>
            <a:ext cx="5303520" cy="1234440"/>
          </a:xfrm>
          <a:prstGeom prst="roundRect">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59" y="4754879"/>
            <a:ext cx="822960" cy="1234440"/>
          </a:xfrm>
          <a:prstGeom prst="rect">
            <a:avLst/>
          </a:prstGeom>
          <a:noFill/>
        </p:spPr>
        <p:txBody>
          <a:bodyPr wrap="square" anchor="ctr" lIns="45720" rIns="45720" tIns="27432" bIns="27432">
            <a:spAutoFit/>
          </a:bodyPr>
          <a:lstStyle/>
          <a:p>
            <a:pPr algn="l"/>
            <a:r>
              <a:rPr sz="4000" b="1">
                <a:solidFill>
                  <a:srgbClr val="F2C14E"/>
                </a:solidFill>
                <a:latin typeface="Calibri"/>
              </a:rPr>
              <a:t>5</a:t>
            </a:r>
          </a:p>
        </p:txBody>
      </p:sp>
      <p:sp>
        <p:nvSpPr>
          <p:cNvPr id="21" name="TextBox 20"/>
          <p:cNvSpPr txBox="1"/>
          <p:nvPr/>
        </p:nvSpPr>
        <p:spPr>
          <a:xfrm>
            <a:off x="1645920" y="4754879"/>
            <a:ext cx="4114800" cy="1234440"/>
          </a:xfrm>
          <a:prstGeom prst="rect">
            <a:avLst/>
          </a:prstGeom>
          <a:noFill/>
        </p:spPr>
        <p:txBody>
          <a:bodyPr wrap="square" anchor="ctr" lIns="45720" rIns="45720" tIns="27432" bIns="27432">
            <a:spAutoFit/>
          </a:bodyPr>
          <a:lstStyle/>
          <a:p>
            <a:pPr algn="l"/>
            <a:r>
              <a:rPr sz="2200" b="0">
                <a:solidFill>
                  <a:srgbClr val="F1EEFB"/>
                </a:solidFill>
                <a:latin typeface="Calibri"/>
              </a:rPr>
              <a:t>Raise alerts and keep an event log</a:t>
            </a:r>
          </a:p>
        </p:txBody>
      </p:sp>
      <p:sp>
        <p:nvSpPr>
          <p:cNvPr id="22" name="Rounded Rectangle 21"/>
          <p:cNvSpPr/>
          <p:nvPr/>
        </p:nvSpPr>
        <p:spPr>
          <a:xfrm>
            <a:off x="6217920" y="4754879"/>
            <a:ext cx="5303520" cy="1234440"/>
          </a:xfrm>
          <a:prstGeom prst="roundRect">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4754879"/>
            <a:ext cx="822960" cy="1234440"/>
          </a:xfrm>
          <a:prstGeom prst="rect">
            <a:avLst/>
          </a:prstGeom>
          <a:noFill/>
        </p:spPr>
        <p:txBody>
          <a:bodyPr wrap="square" anchor="ctr" lIns="45720" rIns="45720" tIns="27432" bIns="27432">
            <a:spAutoFit/>
          </a:bodyPr>
          <a:lstStyle/>
          <a:p>
            <a:pPr algn="l"/>
            <a:r>
              <a:rPr sz="4000" b="1">
                <a:solidFill>
                  <a:srgbClr val="F2C14E"/>
                </a:solidFill>
                <a:latin typeface="Calibri"/>
              </a:rPr>
              <a:t>6</a:t>
            </a:r>
          </a:p>
        </p:txBody>
      </p:sp>
      <p:sp>
        <p:nvSpPr>
          <p:cNvPr id="24" name="TextBox 23"/>
          <p:cNvSpPr txBox="1"/>
          <p:nvPr/>
        </p:nvSpPr>
        <p:spPr>
          <a:xfrm>
            <a:off x="7223760" y="4754879"/>
            <a:ext cx="4114800" cy="1234440"/>
          </a:xfrm>
          <a:prstGeom prst="rect">
            <a:avLst/>
          </a:prstGeom>
          <a:noFill/>
        </p:spPr>
        <p:txBody>
          <a:bodyPr wrap="square" anchor="ctr" lIns="45720" rIns="45720" tIns="27432" bIns="27432">
            <a:spAutoFit/>
          </a:bodyPr>
          <a:lstStyle/>
          <a:p>
            <a:pPr algn="l"/>
            <a:r>
              <a:rPr sz="2200" b="0">
                <a:solidFill>
                  <a:srgbClr val="F1EEFB"/>
                </a:solidFill>
                <a:latin typeface="Calibri"/>
              </a:rPr>
              <a:t>Give troubleshooting help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0B22"/>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9B8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65760"/>
          </a:xfrm>
          <a:prstGeom prst="rect">
            <a:avLst/>
          </a:prstGeom>
          <a:noFill/>
        </p:spPr>
        <p:txBody>
          <a:bodyPr wrap="square" anchor="t" lIns="45720" rIns="45720" tIns="27432" bIns="27432">
            <a:spAutoFit/>
          </a:bodyPr>
          <a:lstStyle/>
          <a:p>
            <a:pPr algn="l"/>
            <a:r>
              <a:rPr sz="1300" b="1">
                <a:solidFill>
                  <a:srgbClr val="F2C14E"/>
                </a:solidFill>
                <a:latin typeface="Calibri"/>
              </a:rPr>
              <a:t>HOW IT WORKS</a:t>
            </a:r>
          </a:p>
        </p:txBody>
      </p:sp>
      <p:sp>
        <p:nvSpPr>
          <p:cNvPr id="4" name="TextBox 3"/>
          <p:cNvSpPr txBox="1"/>
          <p:nvPr/>
        </p:nvSpPr>
        <p:spPr>
          <a:xfrm>
            <a:off x="640080" y="640080"/>
            <a:ext cx="10789920" cy="822960"/>
          </a:xfrm>
          <a:prstGeom prst="rect">
            <a:avLst/>
          </a:prstGeom>
          <a:noFill/>
        </p:spPr>
        <p:txBody>
          <a:bodyPr wrap="square" anchor="t" lIns="45720" rIns="45720" tIns="27432" bIns="27432">
            <a:spAutoFit/>
          </a:bodyPr>
          <a:lstStyle/>
          <a:p>
            <a:pPr algn="l"/>
            <a:r>
              <a:rPr sz="3800" b="1">
                <a:solidFill>
                  <a:srgbClr val="F1EEFB"/>
                </a:solidFill>
                <a:latin typeface="Calibri"/>
              </a:rPr>
              <a:t>Proposed solution</a:t>
            </a:r>
          </a:p>
        </p:txBody>
      </p:sp>
      <p:sp>
        <p:nvSpPr>
          <p:cNvPr id="5" name="TextBox 4"/>
          <p:cNvSpPr txBox="1"/>
          <p:nvPr/>
        </p:nvSpPr>
        <p:spPr>
          <a:xfrm>
            <a:off x="10607040" y="6400800"/>
            <a:ext cx="1280160" cy="274320"/>
          </a:xfrm>
          <a:prstGeom prst="rect">
            <a:avLst/>
          </a:prstGeom>
          <a:noFill/>
        </p:spPr>
        <p:txBody>
          <a:bodyPr wrap="square" anchor="t" lIns="45720" rIns="45720" tIns="27432" bIns="27432">
            <a:spAutoFit/>
          </a:bodyPr>
          <a:lstStyle/>
          <a:p>
            <a:pPr algn="r"/>
            <a:r>
              <a:rPr sz="1100" b="0">
                <a:solidFill>
                  <a:srgbClr val="B4AED0"/>
                </a:solidFill>
                <a:latin typeface="Calibri"/>
              </a:rPr>
              <a:t>6 / 18</a:t>
            </a:r>
          </a:p>
        </p:txBody>
      </p:sp>
      <p:sp>
        <p:nvSpPr>
          <p:cNvPr id="6" name="TextBox 5"/>
          <p:cNvSpPr txBox="1"/>
          <p:nvPr/>
        </p:nvSpPr>
        <p:spPr>
          <a:xfrm>
            <a:off x="640080" y="6400800"/>
            <a:ext cx="7315200" cy="274320"/>
          </a:xfrm>
          <a:prstGeom prst="rect">
            <a:avLst/>
          </a:prstGeom>
          <a:noFill/>
        </p:spPr>
        <p:txBody>
          <a:bodyPr wrap="square" anchor="t" lIns="45720" rIns="45720" tIns="27432" bIns="27432">
            <a:spAutoFit/>
          </a:bodyPr>
          <a:lstStyle/>
          <a:p>
            <a:pPr algn="l"/>
            <a:r>
              <a:rPr sz="1100" b="0">
                <a:solidFill>
                  <a:srgbClr val="B4AED0"/>
                </a:solidFill>
                <a:latin typeface="Calibri"/>
              </a:rPr>
              <a:t>NetWatch | Computer Networks Mini Project</a:t>
            </a:r>
          </a:p>
        </p:txBody>
      </p:sp>
      <p:sp>
        <p:nvSpPr>
          <p:cNvPr id="7" name="Rounded Rectangle 6"/>
          <p:cNvSpPr/>
          <p:nvPr/>
        </p:nvSpPr>
        <p:spPr>
          <a:xfrm>
            <a:off x="640080" y="2194560"/>
            <a:ext cx="2377440" cy="1188720"/>
          </a:xfrm>
          <a:prstGeom prst="roundRect">
            <a:avLst>
              <a:gd name="adj" fmla="val 12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194560"/>
            <a:ext cx="2377440" cy="1188720"/>
          </a:xfrm>
          <a:prstGeom prst="rect">
            <a:avLst/>
          </a:prstGeom>
          <a:noFill/>
        </p:spPr>
        <p:txBody>
          <a:bodyPr wrap="square" anchor="ctr" lIns="45720" rIns="45720" tIns="27432" bIns="27432">
            <a:spAutoFit/>
          </a:bodyPr>
          <a:lstStyle/>
          <a:p>
            <a:pPr algn="ctr"/>
            <a:r>
              <a:rPr sz="1900" b="1">
                <a:solidFill>
                  <a:srgbClr val="F1EEFB"/>
                </a:solidFill>
                <a:latin typeface="Calibri"/>
              </a:rPr>
              <a:t>Collect real data</a:t>
            </a:r>
          </a:p>
        </p:txBody>
      </p:sp>
      <p:cxnSp>
        <p:nvCxnSpPr>
          <p:cNvPr id="9" name="Connector 8"/>
          <p:cNvCxnSpPr/>
          <p:nvPr/>
        </p:nvCxnSpPr>
        <p:spPr>
          <a:xfrm>
            <a:off x="3017520" y="2788920"/>
            <a:ext cx="502919" cy="0"/>
          </a:xfrm>
          <a:prstGeom prst="line">
            <a:avLst/>
          </a:prstGeom>
          <a:ln w="31750">
            <a:solidFill>
              <a:srgbClr val="9B87F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520440" y="2194560"/>
            <a:ext cx="2377440" cy="1188720"/>
          </a:xfrm>
          <a:prstGeom prst="roundRect">
            <a:avLst>
              <a:gd name="adj" fmla="val 12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0440" y="2194560"/>
            <a:ext cx="2377440" cy="1188720"/>
          </a:xfrm>
          <a:prstGeom prst="rect">
            <a:avLst/>
          </a:prstGeom>
          <a:noFill/>
        </p:spPr>
        <p:txBody>
          <a:bodyPr wrap="square" anchor="ctr" lIns="45720" rIns="45720" tIns="27432" bIns="27432">
            <a:spAutoFit/>
          </a:bodyPr>
          <a:lstStyle/>
          <a:p>
            <a:pPr algn="ctr"/>
            <a:r>
              <a:rPr sz="1900" b="1">
                <a:solidFill>
                  <a:srgbClr val="F1EEFB"/>
                </a:solidFill>
                <a:latin typeface="Calibri"/>
              </a:rPr>
              <a:t>Store in memory</a:t>
            </a:r>
          </a:p>
        </p:txBody>
      </p:sp>
      <p:cxnSp>
        <p:nvCxnSpPr>
          <p:cNvPr id="12" name="Connector 11"/>
          <p:cNvCxnSpPr/>
          <p:nvPr/>
        </p:nvCxnSpPr>
        <p:spPr>
          <a:xfrm>
            <a:off x="5897880" y="2788920"/>
            <a:ext cx="502920" cy="0"/>
          </a:xfrm>
          <a:prstGeom prst="line">
            <a:avLst/>
          </a:prstGeom>
          <a:ln w="31750">
            <a:solidFill>
              <a:srgbClr val="9B87F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400800" y="2194560"/>
            <a:ext cx="2377440" cy="1188720"/>
          </a:xfrm>
          <a:prstGeom prst="roundRect">
            <a:avLst>
              <a:gd name="adj" fmla="val 12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194560"/>
            <a:ext cx="2377440" cy="1188720"/>
          </a:xfrm>
          <a:prstGeom prst="rect">
            <a:avLst/>
          </a:prstGeom>
          <a:noFill/>
        </p:spPr>
        <p:txBody>
          <a:bodyPr wrap="square" anchor="ctr" lIns="45720" rIns="45720" tIns="27432" bIns="27432">
            <a:spAutoFit/>
          </a:bodyPr>
          <a:lstStyle/>
          <a:p>
            <a:pPr algn="ctr"/>
            <a:r>
              <a:rPr sz="1900" b="1">
                <a:solidFill>
                  <a:srgbClr val="F1EEFB"/>
                </a:solidFill>
                <a:latin typeface="Calibri"/>
              </a:rPr>
              <a:t>Rules: alerts + health</a:t>
            </a:r>
          </a:p>
        </p:txBody>
      </p:sp>
      <p:cxnSp>
        <p:nvCxnSpPr>
          <p:cNvPr id="15" name="Connector 14"/>
          <p:cNvCxnSpPr/>
          <p:nvPr/>
        </p:nvCxnSpPr>
        <p:spPr>
          <a:xfrm>
            <a:off x="8778240" y="2788920"/>
            <a:ext cx="502920" cy="0"/>
          </a:xfrm>
          <a:prstGeom prst="line">
            <a:avLst/>
          </a:prstGeom>
          <a:ln w="31750">
            <a:solidFill>
              <a:srgbClr val="9B87F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281160" y="2194560"/>
            <a:ext cx="2377440" cy="1188720"/>
          </a:xfrm>
          <a:prstGeom prst="roundRect">
            <a:avLst>
              <a:gd name="adj" fmla="val 12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81160" y="2194560"/>
            <a:ext cx="2377440" cy="1188720"/>
          </a:xfrm>
          <a:prstGeom prst="rect">
            <a:avLst/>
          </a:prstGeom>
          <a:noFill/>
        </p:spPr>
        <p:txBody>
          <a:bodyPr wrap="square" anchor="ctr" lIns="45720" rIns="45720" tIns="27432" bIns="27432">
            <a:spAutoFit/>
          </a:bodyPr>
          <a:lstStyle/>
          <a:p>
            <a:pPr algn="ctr"/>
            <a:r>
              <a:rPr sz="1900" b="1">
                <a:solidFill>
                  <a:srgbClr val="F1EEFB"/>
                </a:solidFill>
                <a:latin typeface="Calibri"/>
              </a:rPr>
              <a:t>Live dashboard</a:t>
            </a:r>
          </a:p>
        </p:txBody>
      </p:sp>
      <p:sp>
        <p:nvSpPr>
          <p:cNvPr id="18" name="TextBox 17"/>
          <p:cNvSpPr txBox="1"/>
          <p:nvPr/>
        </p:nvSpPr>
        <p:spPr>
          <a:xfrm>
            <a:off x="640080" y="4023360"/>
            <a:ext cx="10789920" cy="1463040"/>
          </a:xfrm>
          <a:prstGeom prst="rect">
            <a:avLst/>
          </a:prstGeom>
          <a:noFill/>
        </p:spPr>
        <p:txBody>
          <a:bodyPr wrap="square" anchor="t" lIns="45720" rIns="45720" tIns="27432" bIns="27432">
            <a:spAutoFit/>
          </a:bodyPr>
          <a:lstStyle/>
          <a:p>
            <a:pPr algn="l"/>
            <a:r>
              <a:rPr sz="2000" b="0">
                <a:solidFill>
                  <a:srgbClr val="B4AED0"/>
                </a:solidFill>
                <a:latin typeface="Calibri"/>
              </a:rPr>
              <a:t>Collects from the operating system and the network.</a:t>
            </a:r>
          </a:p>
          <a:p>
            <a:pPr algn="l">
              <a:spcBef>
                <a:spcPts val="800"/>
              </a:spcBef>
            </a:pPr>
            <a:r>
              <a:rPr sz="2000" b="0">
                <a:solidFill>
                  <a:srgbClr val="B4AED0"/>
                </a:solidFill>
                <a:latin typeface="Calibri"/>
              </a:rPr>
              <a:t>Updates every 2 to 10 seconds, depending on the check.</a:t>
            </a:r>
          </a:p>
          <a:p>
            <a:pPr algn="l">
              <a:spcBef>
                <a:spcPts val="800"/>
              </a:spcBef>
            </a:pPr>
            <a:r>
              <a:rPr sz="2000" b="0">
                <a:solidFill>
                  <a:srgbClr val="B4AED0"/>
                </a:solidFill>
                <a:latin typeface="Calibri"/>
              </a:rPr>
              <a:t>If a value cannot be measured, it says Unavailable.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B22"/>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9B8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65760"/>
          </a:xfrm>
          <a:prstGeom prst="rect">
            <a:avLst/>
          </a:prstGeom>
          <a:noFill/>
        </p:spPr>
        <p:txBody>
          <a:bodyPr wrap="square" anchor="t" lIns="45720" rIns="45720" tIns="27432" bIns="27432">
            <a:spAutoFit/>
          </a:bodyPr>
          <a:lstStyle/>
          <a:p>
            <a:pPr algn="l"/>
            <a:r>
              <a:rPr sz="1300" b="1">
                <a:solidFill>
                  <a:srgbClr val="F2C14E"/>
                </a:solidFill>
                <a:latin typeface="Calibri"/>
              </a:rPr>
              <a:t>TOOLS</a:t>
            </a:r>
          </a:p>
        </p:txBody>
      </p:sp>
      <p:sp>
        <p:nvSpPr>
          <p:cNvPr id="4" name="TextBox 3"/>
          <p:cNvSpPr txBox="1"/>
          <p:nvPr/>
        </p:nvSpPr>
        <p:spPr>
          <a:xfrm>
            <a:off x="640080" y="640080"/>
            <a:ext cx="10789920" cy="822960"/>
          </a:xfrm>
          <a:prstGeom prst="rect">
            <a:avLst/>
          </a:prstGeom>
          <a:noFill/>
        </p:spPr>
        <p:txBody>
          <a:bodyPr wrap="square" anchor="t" lIns="45720" rIns="45720" tIns="27432" bIns="27432">
            <a:spAutoFit/>
          </a:bodyPr>
          <a:lstStyle/>
          <a:p>
            <a:pPr algn="l"/>
            <a:r>
              <a:rPr sz="3800" b="1">
                <a:solidFill>
                  <a:srgbClr val="F1EEFB"/>
                </a:solidFill>
                <a:latin typeface="Calibri"/>
              </a:rPr>
              <a:t>Technology stack</a:t>
            </a:r>
          </a:p>
        </p:txBody>
      </p:sp>
      <p:sp>
        <p:nvSpPr>
          <p:cNvPr id="5" name="TextBox 4"/>
          <p:cNvSpPr txBox="1"/>
          <p:nvPr/>
        </p:nvSpPr>
        <p:spPr>
          <a:xfrm>
            <a:off x="10607040" y="6400800"/>
            <a:ext cx="1280160" cy="274320"/>
          </a:xfrm>
          <a:prstGeom prst="rect">
            <a:avLst/>
          </a:prstGeom>
          <a:noFill/>
        </p:spPr>
        <p:txBody>
          <a:bodyPr wrap="square" anchor="t" lIns="45720" rIns="45720" tIns="27432" bIns="27432">
            <a:spAutoFit/>
          </a:bodyPr>
          <a:lstStyle/>
          <a:p>
            <a:pPr algn="r"/>
            <a:r>
              <a:rPr sz="1100" b="0">
                <a:solidFill>
                  <a:srgbClr val="B4AED0"/>
                </a:solidFill>
                <a:latin typeface="Calibri"/>
              </a:rPr>
              <a:t>7 / 18</a:t>
            </a:r>
          </a:p>
        </p:txBody>
      </p:sp>
      <p:sp>
        <p:nvSpPr>
          <p:cNvPr id="6" name="TextBox 5"/>
          <p:cNvSpPr txBox="1"/>
          <p:nvPr/>
        </p:nvSpPr>
        <p:spPr>
          <a:xfrm>
            <a:off x="640080" y="6400800"/>
            <a:ext cx="7315200" cy="274320"/>
          </a:xfrm>
          <a:prstGeom prst="rect">
            <a:avLst/>
          </a:prstGeom>
          <a:noFill/>
        </p:spPr>
        <p:txBody>
          <a:bodyPr wrap="square" anchor="t" lIns="45720" rIns="45720" tIns="27432" bIns="27432">
            <a:spAutoFit/>
          </a:bodyPr>
          <a:lstStyle/>
          <a:p>
            <a:pPr algn="l"/>
            <a:r>
              <a:rPr sz="1100" b="0">
                <a:solidFill>
                  <a:srgbClr val="B4AED0"/>
                </a:solidFill>
                <a:latin typeface="Calibri"/>
              </a:rPr>
              <a:t>NetWatch | Computer Networks Mini Project</a:t>
            </a:r>
          </a:p>
        </p:txBody>
      </p:sp>
      <p:sp>
        <p:nvSpPr>
          <p:cNvPr id="7" name="Rounded Rectangle 6"/>
          <p:cNvSpPr/>
          <p:nvPr/>
        </p:nvSpPr>
        <p:spPr>
          <a:xfrm>
            <a:off x="640080" y="1737360"/>
            <a:ext cx="5303520" cy="1737360"/>
          </a:xfrm>
          <a:prstGeom prst="roundRect">
            <a:avLst>
              <a:gd name="adj" fmla="val 8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874519"/>
            <a:ext cx="4937759" cy="457200"/>
          </a:xfrm>
          <a:prstGeom prst="rect">
            <a:avLst/>
          </a:prstGeom>
          <a:noFill/>
        </p:spPr>
        <p:txBody>
          <a:bodyPr wrap="square" anchor="t" lIns="45720" rIns="45720" tIns="27432" bIns="27432">
            <a:spAutoFit/>
          </a:bodyPr>
          <a:lstStyle/>
          <a:p>
            <a:pPr algn="l"/>
            <a:r>
              <a:rPr sz="2000" b="1">
                <a:solidFill>
                  <a:srgbClr val="F2C14E"/>
                </a:solidFill>
                <a:latin typeface="Calibri"/>
              </a:rPr>
              <a:t>Python 3 + Flask</a:t>
            </a:r>
          </a:p>
        </p:txBody>
      </p:sp>
      <p:sp>
        <p:nvSpPr>
          <p:cNvPr id="9" name="TextBox 8"/>
          <p:cNvSpPr txBox="1"/>
          <p:nvPr/>
        </p:nvSpPr>
        <p:spPr>
          <a:xfrm>
            <a:off x="822959" y="2423160"/>
            <a:ext cx="4937759" cy="914399"/>
          </a:xfrm>
          <a:prstGeom prst="rect">
            <a:avLst/>
          </a:prstGeom>
          <a:noFill/>
        </p:spPr>
        <p:txBody>
          <a:bodyPr wrap="square" anchor="t" lIns="45720" rIns="45720" tIns="27432" bIns="27432">
            <a:spAutoFit/>
          </a:bodyPr>
          <a:lstStyle/>
          <a:p>
            <a:pPr algn="l"/>
            <a:r>
              <a:rPr sz="1900" b="0">
                <a:solidFill>
                  <a:srgbClr val="F1EEFB"/>
                </a:solidFill>
                <a:latin typeface="Calibri"/>
              </a:rPr>
              <a:t>Backend and JSON API</a:t>
            </a:r>
          </a:p>
        </p:txBody>
      </p:sp>
      <p:sp>
        <p:nvSpPr>
          <p:cNvPr id="10" name="Rounded Rectangle 9"/>
          <p:cNvSpPr/>
          <p:nvPr/>
        </p:nvSpPr>
        <p:spPr>
          <a:xfrm>
            <a:off x="6217920" y="1737360"/>
            <a:ext cx="5303520" cy="1737360"/>
          </a:xfrm>
          <a:prstGeom prst="roundRect">
            <a:avLst>
              <a:gd name="adj" fmla="val 8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874519"/>
            <a:ext cx="4937759" cy="457200"/>
          </a:xfrm>
          <a:prstGeom prst="rect">
            <a:avLst/>
          </a:prstGeom>
          <a:noFill/>
        </p:spPr>
        <p:txBody>
          <a:bodyPr wrap="square" anchor="t" lIns="45720" rIns="45720" tIns="27432" bIns="27432">
            <a:spAutoFit/>
          </a:bodyPr>
          <a:lstStyle/>
          <a:p>
            <a:pPr algn="l"/>
            <a:r>
              <a:rPr sz="2000" b="1">
                <a:solidFill>
                  <a:srgbClr val="F2C14E"/>
                </a:solidFill>
                <a:latin typeface="Calibri"/>
              </a:rPr>
              <a:t>socket, subprocess, urllib</a:t>
            </a:r>
          </a:p>
        </p:txBody>
      </p:sp>
      <p:sp>
        <p:nvSpPr>
          <p:cNvPr id="12" name="TextBox 11"/>
          <p:cNvSpPr txBox="1"/>
          <p:nvPr/>
        </p:nvSpPr>
        <p:spPr>
          <a:xfrm>
            <a:off x="6400800" y="2423160"/>
            <a:ext cx="4937759" cy="914399"/>
          </a:xfrm>
          <a:prstGeom prst="rect">
            <a:avLst/>
          </a:prstGeom>
          <a:noFill/>
        </p:spPr>
        <p:txBody>
          <a:bodyPr wrap="square" anchor="t" lIns="45720" rIns="45720" tIns="27432" bIns="27432">
            <a:spAutoFit/>
          </a:bodyPr>
          <a:lstStyle/>
          <a:p>
            <a:pPr algn="l"/>
            <a:r>
              <a:rPr sz="1900" b="0">
                <a:solidFill>
                  <a:srgbClr val="F1EEFB"/>
                </a:solidFill>
                <a:latin typeface="Calibri"/>
              </a:rPr>
              <a:t>Real ping, DNS, TCP, HTTP checks</a:t>
            </a:r>
          </a:p>
        </p:txBody>
      </p:sp>
      <p:sp>
        <p:nvSpPr>
          <p:cNvPr id="13" name="Rounded Rectangle 12"/>
          <p:cNvSpPr/>
          <p:nvPr/>
        </p:nvSpPr>
        <p:spPr>
          <a:xfrm>
            <a:off x="640080" y="3749039"/>
            <a:ext cx="5303520" cy="1737360"/>
          </a:xfrm>
          <a:prstGeom prst="roundRect">
            <a:avLst>
              <a:gd name="adj" fmla="val 8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3886200"/>
            <a:ext cx="4937759" cy="457200"/>
          </a:xfrm>
          <a:prstGeom prst="rect">
            <a:avLst/>
          </a:prstGeom>
          <a:noFill/>
        </p:spPr>
        <p:txBody>
          <a:bodyPr wrap="square" anchor="t" lIns="45720" rIns="45720" tIns="27432" bIns="27432">
            <a:spAutoFit/>
          </a:bodyPr>
          <a:lstStyle/>
          <a:p>
            <a:pPr algn="l"/>
            <a:r>
              <a:rPr sz="2000" b="1">
                <a:solidFill>
                  <a:srgbClr val="F2C14E"/>
                </a:solidFill>
                <a:latin typeface="Calibri"/>
              </a:rPr>
              <a:t>psutil</a:t>
            </a:r>
          </a:p>
        </p:txBody>
      </p:sp>
      <p:sp>
        <p:nvSpPr>
          <p:cNvPr id="15" name="TextBox 14"/>
          <p:cNvSpPr txBox="1"/>
          <p:nvPr/>
        </p:nvSpPr>
        <p:spPr>
          <a:xfrm>
            <a:off x="822959" y="4434840"/>
            <a:ext cx="4937759" cy="914399"/>
          </a:xfrm>
          <a:prstGeom prst="rect">
            <a:avLst/>
          </a:prstGeom>
          <a:noFill/>
        </p:spPr>
        <p:txBody>
          <a:bodyPr wrap="square" anchor="t" lIns="45720" rIns="45720" tIns="27432" bIns="27432">
            <a:spAutoFit/>
          </a:bodyPr>
          <a:lstStyle/>
          <a:p>
            <a:pPr algn="l"/>
            <a:r>
              <a:rPr sz="1900" b="0">
                <a:solidFill>
                  <a:srgbClr val="F1EEFB"/>
                </a:solidFill>
                <a:latin typeface="Calibri"/>
              </a:rPr>
              <a:t>Interface statistics and counters</a:t>
            </a:r>
          </a:p>
        </p:txBody>
      </p:sp>
      <p:sp>
        <p:nvSpPr>
          <p:cNvPr id="16" name="Rounded Rectangle 15"/>
          <p:cNvSpPr/>
          <p:nvPr/>
        </p:nvSpPr>
        <p:spPr>
          <a:xfrm>
            <a:off x="6217920" y="3749039"/>
            <a:ext cx="5303520" cy="1737360"/>
          </a:xfrm>
          <a:prstGeom prst="roundRect">
            <a:avLst>
              <a:gd name="adj" fmla="val 8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886200"/>
            <a:ext cx="4937759" cy="457200"/>
          </a:xfrm>
          <a:prstGeom prst="rect">
            <a:avLst/>
          </a:prstGeom>
          <a:noFill/>
        </p:spPr>
        <p:txBody>
          <a:bodyPr wrap="square" anchor="t" lIns="45720" rIns="45720" tIns="27432" bIns="27432">
            <a:spAutoFit/>
          </a:bodyPr>
          <a:lstStyle/>
          <a:p>
            <a:pPr algn="l"/>
            <a:r>
              <a:rPr sz="2000" b="1">
                <a:solidFill>
                  <a:srgbClr val="F2C14E"/>
                </a:solidFill>
                <a:latin typeface="Calibri"/>
              </a:rPr>
              <a:t>HTML + CSS + JavaScript</a:t>
            </a:r>
          </a:p>
        </p:txBody>
      </p:sp>
      <p:sp>
        <p:nvSpPr>
          <p:cNvPr id="18" name="TextBox 17"/>
          <p:cNvSpPr txBox="1"/>
          <p:nvPr/>
        </p:nvSpPr>
        <p:spPr>
          <a:xfrm>
            <a:off x="6400800" y="4434840"/>
            <a:ext cx="4937759" cy="914399"/>
          </a:xfrm>
          <a:prstGeom prst="rect">
            <a:avLst/>
          </a:prstGeom>
          <a:noFill/>
        </p:spPr>
        <p:txBody>
          <a:bodyPr wrap="square" anchor="t" lIns="45720" rIns="45720" tIns="27432" bIns="27432">
            <a:spAutoFit/>
          </a:bodyPr>
          <a:lstStyle/>
          <a:p>
            <a:pPr algn="l"/>
            <a:r>
              <a:rPr sz="1900" b="0">
                <a:solidFill>
                  <a:srgbClr val="F1EEFB"/>
                </a:solidFill>
                <a:latin typeface="Calibri"/>
              </a:rPr>
              <a:t>Dashboard with canvas graphs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0B22"/>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9B8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65760"/>
          </a:xfrm>
          <a:prstGeom prst="rect">
            <a:avLst/>
          </a:prstGeom>
          <a:noFill/>
        </p:spPr>
        <p:txBody>
          <a:bodyPr wrap="square" anchor="t" lIns="45720" rIns="45720" tIns="27432" bIns="27432">
            <a:spAutoFit/>
          </a:bodyPr>
          <a:lstStyle/>
          <a:p>
            <a:pPr algn="l"/>
            <a:r>
              <a:rPr sz="1300" b="1">
                <a:solidFill>
                  <a:srgbClr val="F2C14E"/>
                </a:solidFill>
                <a:latin typeface="Calibri"/>
              </a:rPr>
              <a:t>DESIGN</a:t>
            </a:r>
          </a:p>
        </p:txBody>
      </p:sp>
      <p:sp>
        <p:nvSpPr>
          <p:cNvPr id="4" name="TextBox 3"/>
          <p:cNvSpPr txBox="1"/>
          <p:nvPr/>
        </p:nvSpPr>
        <p:spPr>
          <a:xfrm>
            <a:off x="640080" y="640080"/>
            <a:ext cx="10789920" cy="822960"/>
          </a:xfrm>
          <a:prstGeom prst="rect">
            <a:avLst/>
          </a:prstGeom>
          <a:noFill/>
        </p:spPr>
        <p:txBody>
          <a:bodyPr wrap="square" anchor="t" lIns="45720" rIns="45720" tIns="27432" bIns="27432">
            <a:spAutoFit/>
          </a:bodyPr>
          <a:lstStyle/>
          <a:p>
            <a:pPr algn="l"/>
            <a:r>
              <a:rPr sz="3800" b="1">
                <a:solidFill>
                  <a:srgbClr val="F1EEFB"/>
                </a:solidFill>
                <a:latin typeface="Calibri"/>
              </a:rPr>
              <a:t>System architecture</a:t>
            </a:r>
          </a:p>
        </p:txBody>
      </p:sp>
      <p:sp>
        <p:nvSpPr>
          <p:cNvPr id="5" name="TextBox 4"/>
          <p:cNvSpPr txBox="1"/>
          <p:nvPr/>
        </p:nvSpPr>
        <p:spPr>
          <a:xfrm>
            <a:off x="10607040" y="6400800"/>
            <a:ext cx="1280160" cy="274320"/>
          </a:xfrm>
          <a:prstGeom prst="rect">
            <a:avLst/>
          </a:prstGeom>
          <a:noFill/>
        </p:spPr>
        <p:txBody>
          <a:bodyPr wrap="square" anchor="t" lIns="45720" rIns="45720" tIns="27432" bIns="27432">
            <a:spAutoFit/>
          </a:bodyPr>
          <a:lstStyle/>
          <a:p>
            <a:pPr algn="r"/>
            <a:r>
              <a:rPr sz="1100" b="0">
                <a:solidFill>
                  <a:srgbClr val="B4AED0"/>
                </a:solidFill>
                <a:latin typeface="Calibri"/>
              </a:rPr>
              <a:t>8 / 18</a:t>
            </a:r>
          </a:p>
        </p:txBody>
      </p:sp>
      <p:sp>
        <p:nvSpPr>
          <p:cNvPr id="6" name="TextBox 5"/>
          <p:cNvSpPr txBox="1"/>
          <p:nvPr/>
        </p:nvSpPr>
        <p:spPr>
          <a:xfrm>
            <a:off x="640080" y="6400800"/>
            <a:ext cx="7315200" cy="274320"/>
          </a:xfrm>
          <a:prstGeom prst="rect">
            <a:avLst/>
          </a:prstGeom>
          <a:noFill/>
        </p:spPr>
        <p:txBody>
          <a:bodyPr wrap="square" anchor="t" lIns="45720" rIns="45720" tIns="27432" bIns="27432">
            <a:spAutoFit/>
          </a:bodyPr>
          <a:lstStyle/>
          <a:p>
            <a:pPr algn="l"/>
            <a:r>
              <a:rPr sz="1100" b="0">
                <a:solidFill>
                  <a:srgbClr val="B4AED0"/>
                </a:solidFill>
                <a:latin typeface="Calibri"/>
              </a:rPr>
              <a:t>NetWatch | Computer Networks Mini Project</a:t>
            </a:r>
          </a:p>
        </p:txBody>
      </p:sp>
      <p:sp>
        <p:nvSpPr>
          <p:cNvPr id="7" name="Rounded Rectangle 6"/>
          <p:cNvSpPr/>
          <p:nvPr/>
        </p:nvSpPr>
        <p:spPr>
          <a:xfrm>
            <a:off x="640080" y="1600200"/>
            <a:ext cx="6035040" cy="658368"/>
          </a:xfrm>
          <a:prstGeom prst="roundRect">
            <a:avLst>
              <a:gd name="adj" fmla="val 15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00200"/>
            <a:ext cx="6035040" cy="658368"/>
          </a:xfrm>
          <a:prstGeom prst="rect">
            <a:avLst/>
          </a:prstGeom>
          <a:noFill/>
        </p:spPr>
        <p:txBody>
          <a:bodyPr wrap="square" anchor="ctr" lIns="45720" rIns="45720" tIns="27432" bIns="27432">
            <a:spAutoFit/>
          </a:bodyPr>
          <a:lstStyle/>
          <a:p>
            <a:pPr algn="ctr"/>
            <a:r>
              <a:rPr sz="1900" b="1">
                <a:solidFill>
                  <a:srgbClr val="F1EEFB"/>
                </a:solidFill>
                <a:latin typeface="Calibri"/>
              </a:rPr>
              <a:t>Browser dashboard (HTML / CSS / JavaScript)</a:t>
            </a:r>
          </a:p>
        </p:txBody>
      </p:sp>
      <p:cxnSp>
        <p:nvCxnSpPr>
          <p:cNvPr id="9" name="Connector 8"/>
          <p:cNvCxnSpPr/>
          <p:nvPr/>
        </p:nvCxnSpPr>
        <p:spPr>
          <a:xfrm>
            <a:off x="3657600" y="2258568"/>
            <a:ext cx="0" cy="237744"/>
          </a:xfrm>
          <a:prstGeom prst="line">
            <a:avLst/>
          </a:prstGeom>
          <a:ln w="31750">
            <a:solidFill>
              <a:srgbClr val="9B87F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40080" y="2496312"/>
            <a:ext cx="6035040" cy="658368"/>
          </a:xfrm>
          <a:prstGeom prst="roundRect">
            <a:avLst>
              <a:gd name="adj" fmla="val 15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496312"/>
            <a:ext cx="6035040" cy="658368"/>
          </a:xfrm>
          <a:prstGeom prst="rect">
            <a:avLst/>
          </a:prstGeom>
          <a:noFill/>
        </p:spPr>
        <p:txBody>
          <a:bodyPr wrap="square" anchor="ctr" lIns="45720" rIns="45720" tIns="27432" bIns="27432">
            <a:spAutoFit/>
          </a:bodyPr>
          <a:lstStyle/>
          <a:p>
            <a:pPr algn="ctr"/>
            <a:r>
              <a:rPr sz="1900" b="1">
                <a:solidFill>
                  <a:srgbClr val="F1EEFB"/>
                </a:solidFill>
                <a:latin typeface="Calibri"/>
              </a:rPr>
              <a:t>Flask backend (app.py)</a:t>
            </a:r>
          </a:p>
        </p:txBody>
      </p:sp>
      <p:cxnSp>
        <p:nvCxnSpPr>
          <p:cNvPr id="12" name="Connector 11"/>
          <p:cNvCxnSpPr/>
          <p:nvPr/>
        </p:nvCxnSpPr>
        <p:spPr>
          <a:xfrm>
            <a:off x="3657600" y="3154680"/>
            <a:ext cx="0" cy="237744"/>
          </a:xfrm>
          <a:prstGeom prst="line">
            <a:avLst/>
          </a:prstGeom>
          <a:ln w="31750">
            <a:solidFill>
              <a:srgbClr val="9B87F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40080" y="3392424"/>
            <a:ext cx="6035040" cy="658368"/>
          </a:xfrm>
          <a:prstGeom prst="roundRect">
            <a:avLst>
              <a:gd name="adj" fmla="val 15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392424"/>
            <a:ext cx="6035040" cy="658368"/>
          </a:xfrm>
          <a:prstGeom prst="rect">
            <a:avLst/>
          </a:prstGeom>
          <a:noFill/>
        </p:spPr>
        <p:txBody>
          <a:bodyPr wrap="square" anchor="ctr" lIns="45720" rIns="45720" tIns="27432" bIns="27432">
            <a:spAutoFit/>
          </a:bodyPr>
          <a:lstStyle/>
          <a:p>
            <a:pPr algn="ctr"/>
            <a:r>
              <a:rPr sz="1900" b="1">
                <a:solidFill>
                  <a:srgbClr val="F1EEFB"/>
                </a:solidFill>
                <a:latin typeface="Calibri"/>
              </a:rPr>
              <a:t>Monitoring engine (monitor.py)</a:t>
            </a:r>
          </a:p>
        </p:txBody>
      </p:sp>
      <p:cxnSp>
        <p:nvCxnSpPr>
          <p:cNvPr id="15" name="Connector 14"/>
          <p:cNvCxnSpPr/>
          <p:nvPr/>
        </p:nvCxnSpPr>
        <p:spPr>
          <a:xfrm>
            <a:off x="3657600" y="4050791"/>
            <a:ext cx="0" cy="237745"/>
          </a:xfrm>
          <a:prstGeom prst="line">
            <a:avLst/>
          </a:prstGeom>
          <a:ln w="31750">
            <a:solidFill>
              <a:srgbClr val="9B87F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40080" y="4288536"/>
            <a:ext cx="6035040" cy="658368"/>
          </a:xfrm>
          <a:prstGeom prst="roundRect">
            <a:avLst>
              <a:gd name="adj" fmla="val 15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288536"/>
            <a:ext cx="6035040" cy="658368"/>
          </a:xfrm>
          <a:prstGeom prst="rect">
            <a:avLst/>
          </a:prstGeom>
          <a:noFill/>
        </p:spPr>
        <p:txBody>
          <a:bodyPr wrap="square" anchor="ctr" lIns="45720" rIns="45720" tIns="27432" bIns="27432">
            <a:spAutoFit/>
          </a:bodyPr>
          <a:lstStyle/>
          <a:p>
            <a:pPr algn="ctr"/>
            <a:r>
              <a:rPr sz="1900" b="1">
                <a:solidFill>
                  <a:srgbClr val="F1EEFB"/>
                </a:solidFill>
                <a:latin typeface="Calibri"/>
              </a:rPr>
              <a:t>Network helpers (network_utils.py)</a:t>
            </a:r>
          </a:p>
        </p:txBody>
      </p:sp>
      <p:cxnSp>
        <p:nvCxnSpPr>
          <p:cNvPr id="18" name="Connector 17"/>
          <p:cNvCxnSpPr/>
          <p:nvPr/>
        </p:nvCxnSpPr>
        <p:spPr>
          <a:xfrm>
            <a:off x="3657600" y="4946903"/>
            <a:ext cx="0" cy="237745"/>
          </a:xfrm>
          <a:prstGeom prst="line">
            <a:avLst/>
          </a:prstGeom>
          <a:ln w="31750">
            <a:solidFill>
              <a:srgbClr val="9B87F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40080" y="5184648"/>
            <a:ext cx="6035040" cy="658368"/>
          </a:xfrm>
          <a:prstGeom prst="roundRect">
            <a:avLst>
              <a:gd name="adj" fmla="val 15000"/>
            </a:avLst>
          </a:prstGeom>
          <a:solidFill>
            <a:srgbClr val="4A3A10"/>
          </a:solidFill>
          <a:ln w="19050">
            <a:solidFill>
              <a:srgbClr val="F2C1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184648"/>
            <a:ext cx="6035040" cy="658368"/>
          </a:xfrm>
          <a:prstGeom prst="rect">
            <a:avLst/>
          </a:prstGeom>
          <a:noFill/>
        </p:spPr>
        <p:txBody>
          <a:bodyPr wrap="square" anchor="ctr" lIns="45720" rIns="45720" tIns="27432" bIns="27432">
            <a:spAutoFit/>
          </a:bodyPr>
          <a:lstStyle/>
          <a:p>
            <a:pPr algn="ctr"/>
            <a:r>
              <a:rPr sz="1900" b="1">
                <a:solidFill>
                  <a:srgbClr val="F1EEFB"/>
                </a:solidFill>
                <a:latin typeface="Calibri"/>
              </a:rPr>
              <a:t>Operating system network stack</a:t>
            </a:r>
          </a:p>
        </p:txBody>
      </p:sp>
      <p:sp>
        <p:nvSpPr>
          <p:cNvPr id="21" name="Rounded Rectangle 20"/>
          <p:cNvSpPr/>
          <p:nvPr/>
        </p:nvSpPr>
        <p:spPr>
          <a:xfrm>
            <a:off x="8595360" y="2011680"/>
            <a:ext cx="2926080" cy="822960"/>
          </a:xfrm>
          <a:prstGeom prst="roundRect">
            <a:avLst/>
          </a:prstGeom>
          <a:solidFill>
            <a:srgbClr val="4A3A10"/>
          </a:solidFill>
          <a:ln w="19050">
            <a:solidFill>
              <a:srgbClr val="F2C1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95360" y="2011680"/>
            <a:ext cx="2926080" cy="822960"/>
          </a:xfrm>
          <a:prstGeom prst="rect">
            <a:avLst/>
          </a:prstGeom>
          <a:noFill/>
        </p:spPr>
        <p:txBody>
          <a:bodyPr wrap="square" anchor="ctr" lIns="45720" rIns="45720" tIns="27432" bIns="27432">
            <a:spAutoFit/>
          </a:bodyPr>
          <a:lstStyle/>
          <a:p>
            <a:pPr algn="ctr"/>
            <a:r>
              <a:rPr sz="2000" b="1">
                <a:solidFill>
                  <a:srgbClr val="F1EEFB"/>
                </a:solidFill>
                <a:latin typeface="Calibri"/>
              </a:rPr>
              <a:t>Gateway</a:t>
            </a:r>
          </a:p>
        </p:txBody>
      </p:sp>
      <p:cxnSp>
        <p:nvCxnSpPr>
          <p:cNvPr id="23" name="Connector 22"/>
          <p:cNvCxnSpPr/>
          <p:nvPr/>
        </p:nvCxnSpPr>
        <p:spPr>
          <a:xfrm flipV="1">
            <a:off x="6675120" y="2423160"/>
            <a:ext cx="1920240" cy="3017520"/>
          </a:xfrm>
          <a:prstGeom prst="line">
            <a:avLst/>
          </a:prstGeom>
          <a:ln w="31750">
            <a:solidFill>
              <a:srgbClr val="F2C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595360" y="3246120"/>
            <a:ext cx="2926080" cy="822960"/>
          </a:xfrm>
          <a:prstGeom prst="roundRect">
            <a:avLst/>
          </a:prstGeom>
          <a:solidFill>
            <a:srgbClr val="4A3A10"/>
          </a:solidFill>
          <a:ln w="19050">
            <a:solidFill>
              <a:srgbClr val="F2C1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95360" y="3246120"/>
            <a:ext cx="2926080" cy="822960"/>
          </a:xfrm>
          <a:prstGeom prst="rect">
            <a:avLst/>
          </a:prstGeom>
          <a:noFill/>
        </p:spPr>
        <p:txBody>
          <a:bodyPr wrap="square" anchor="ctr" lIns="45720" rIns="45720" tIns="27432" bIns="27432">
            <a:spAutoFit/>
          </a:bodyPr>
          <a:lstStyle/>
          <a:p>
            <a:pPr algn="ctr"/>
            <a:r>
              <a:rPr sz="2000" b="1">
                <a:solidFill>
                  <a:srgbClr val="F1EEFB"/>
                </a:solidFill>
                <a:latin typeface="Calibri"/>
              </a:rPr>
              <a:t>Internet</a:t>
            </a:r>
          </a:p>
        </p:txBody>
      </p:sp>
      <p:cxnSp>
        <p:nvCxnSpPr>
          <p:cNvPr id="26" name="Connector 25"/>
          <p:cNvCxnSpPr/>
          <p:nvPr/>
        </p:nvCxnSpPr>
        <p:spPr>
          <a:xfrm flipV="1">
            <a:off x="6675120" y="3657600"/>
            <a:ext cx="1920240" cy="1783080"/>
          </a:xfrm>
          <a:prstGeom prst="line">
            <a:avLst/>
          </a:prstGeom>
          <a:ln w="31750">
            <a:solidFill>
              <a:srgbClr val="F2C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595360" y="4480560"/>
            <a:ext cx="2926080" cy="822960"/>
          </a:xfrm>
          <a:prstGeom prst="roundRect">
            <a:avLst/>
          </a:prstGeom>
          <a:solidFill>
            <a:srgbClr val="4A3A10"/>
          </a:solidFill>
          <a:ln w="19050">
            <a:solidFill>
              <a:srgbClr val="F2C1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95360" y="4480560"/>
            <a:ext cx="2926080" cy="822960"/>
          </a:xfrm>
          <a:prstGeom prst="rect">
            <a:avLst/>
          </a:prstGeom>
          <a:noFill/>
        </p:spPr>
        <p:txBody>
          <a:bodyPr wrap="square" anchor="ctr" lIns="45720" rIns="45720" tIns="27432" bIns="27432">
            <a:spAutoFit/>
          </a:bodyPr>
          <a:lstStyle/>
          <a:p>
            <a:pPr algn="ctr"/>
            <a:r>
              <a:rPr sz="2000" b="1">
                <a:solidFill>
                  <a:srgbClr val="F1EEFB"/>
                </a:solidFill>
                <a:latin typeface="Calibri"/>
              </a:rPr>
              <a:t>Your services</a:t>
            </a:r>
          </a:p>
        </p:txBody>
      </p:sp>
      <p:cxnSp>
        <p:nvCxnSpPr>
          <p:cNvPr id="29" name="Connector 28"/>
          <p:cNvCxnSpPr/>
          <p:nvPr/>
        </p:nvCxnSpPr>
        <p:spPr>
          <a:xfrm flipV="1">
            <a:off x="6675120" y="4892040"/>
            <a:ext cx="1920240" cy="548640"/>
          </a:xfrm>
          <a:prstGeom prst="line">
            <a:avLst/>
          </a:prstGeom>
          <a:ln w="31750">
            <a:solidFill>
              <a:srgbClr val="F2C14E"/>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0B22"/>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9B8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65760"/>
          </a:xfrm>
          <a:prstGeom prst="rect">
            <a:avLst/>
          </a:prstGeom>
          <a:noFill/>
        </p:spPr>
        <p:txBody>
          <a:bodyPr wrap="square" anchor="t" lIns="45720" rIns="45720" tIns="27432" bIns="27432">
            <a:spAutoFit/>
          </a:bodyPr>
          <a:lstStyle/>
          <a:p>
            <a:pPr algn="l"/>
            <a:r>
              <a:rPr sz="1300" b="1">
                <a:solidFill>
                  <a:srgbClr val="F2C14E"/>
                </a:solidFill>
                <a:latin typeface="Calibri"/>
              </a:rPr>
              <a:t>UPDATE INTERVALS</a:t>
            </a:r>
          </a:p>
        </p:txBody>
      </p:sp>
      <p:sp>
        <p:nvSpPr>
          <p:cNvPr id="4" name="TextBox 3"/>
          <p:cNvSpPr txBox="1"/>
          <p:nvPr/>
        </p:nvSpPr>
        <p:spPr>
          <a:xfrm>
            <a:off x="640080" y="640080"/>
            <a:ext cx="10789920" cy="822960"/>
          </a:xfrm>
          <a:prstGeom prst="rect">
            <a:avLst/>
          </a:prstGeom>
          <a:noFill/>
        </p:spPr>
        <p:txBody>
          <a:bodyPr wrap="square" anchor="t" lIns="45720" rIns="45720" tIns="27432" bIns="27432">
            <a:spAutoFit/>
          </a:bodyPr>
          <a:lstStyle/>
          <a:p>
            <a:pPr algn="l"/>
            <a:r>
              <a:rPr sz="3800" b="1">
                <a:solidFill>
                  <a:srgbClr val="F1EEFB"/>
                </a:solidFill>
                <a:latin typeface="Calibri"/>
              </a:rPr>
              <a:t>Real-time monitoring</a:t>
            </a:r>
          </a:p>
        </p:txBody>
      </p:sp>
      <p:sp>
        <p:nvSpPr>
          <p:cNvPr id="5" name="TextBox 4"/>
          <p:cNvSpPr txBox="1"/>
          <p:nvPr/>
        </p:nvSpPr>
        <p:spPr>
          <a:xfrm>
            <a:off x="10607040" y="6400800"/>
            <a:ext cx="1280160" cy="274320"/>
          </a:xfrm>
          <a:prstGeom prst="rect">
            <a:avLst/>
          </a:prstGeom>
          <a:noFill/>
        </p:spPr>
        <p:txBody>
          <a:bodyPr wrap="square" anchor="t" lIns="45720" rIns="45720" tIns="27432" bIns="27432">
            <a:spAutoFit/>
          </a:bodyPr>
          <a:lstStyle/>
          <a:p>
            <a:pPr algn="r"/>
            <a:r>
              <a:rPr sz="1100" b="0">
                <a:solidFill>
                  <a:srgbClr val="B4AED0"/>
                </a:solidFill>
                <a:latin typeface="Calibri"/>
              </a:rPr>
              <a:t>9 / 18</a:t>
            </a:r>
          </a:p>
        </p:txBody>
      </p:sp>
      <p:sp>
        <p:nvSpPr>
          <p:cNvPr id="6" name="TextBox 5"/>
          <p:cNvSpPr txBox="1"/>
          <p:nvPr/>
        </p:nvSpPr>
        <p:spPr>
          <a:xfrm>
            <a:off x="640080" y="6400800"/>
            <a:ext cx="7315200" cy="274320"/>
          </a:xfrm>
          <a:prstGeom prst="rect">
            <a:avLst/>
          </a:prstGeom>
          <a:noFill/>
        </p:spPr>
        <p:txBody>
          <a:bodyPr wrap="square" anchor="t" lIns="45720" rIns="45720" tIns="27432" bIns="27432">
            <a:spAutoFit/>
          </a:bodyPr>
          <a:lstStyle/>
          <a:p>
            <a:pPr algn="l"/>
            <a:r>
              <a:rPr sz="1100" b="0">
                <a:solidFill>
                  <a:srgbClr val="B4AED0"/>
                </a:solidFill>
                <a:latin typeface="Calibri"/>
              </a:rPr>
              <a:t>NetWatch | Computer Networks Mini Project</a:t>
            </a:r>
          </a:p>
        </p:txBody>
      </p:sp>
      <p:sp>
        <p:nvSpPr>
          <p:cNvPr id="7" name="Rounded Rectangle 6"/>
          <p:cNvSpPr/>
          <p:nvPr/>
        </p:nvSpPr>
        <p:spPr>
          <a:xfrm>
            <a:off x="640080" y="1737360"/>
            <a:ext cx="7498079" cy="713232"/>
          </a:xfrm>
          <a:prstGeom prst="roundRect">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37360"/>
            <a:ext cx="5029200" cy="713232"/>
          </a:xfrm>
          <a:prstGeom prst="rect">
            <a:avLst/>
          </a:prstGeom>
          <a:noFill/>
        </p:spPr>
        <p:txBody>
          <a:bodyPr wrap="square" anchor="ctr" lIns="45720" rIns="45720" tIns="27432" bIns="27432">
            <a:spAutoFit/>
          </a:bodyPr>
          <a:lstStyle/>
          <a:p>
            <a:pPr algn="l"/>
            <a:r>
              <a:rPr sz="2200" b="0">
                <a:solidFill>
                  <a:srgbClr val="F1EEFB"/>
                </a:solidFill>
                <a:latin typeface="Calibri"/>
              </a:rPr>
              <a:t>Interface + bandwidth</a:t>
            </a:r>
          </a:p>
        </p:txBody>
      </p:sp>
      <p:sp>
        <p:nvSpPr>
          <p:cNvPr id="9" name="TextBox 8"/>
          <p:cNvSpPr txBox="1"/>
          <p:nvPr/>
        </p:nvSpPr>
        <p:spPr>
          <a:xfrm>
            <a:off x="5669280" y="1737360"/>
            <a:ext cx="2286000" cy="713232"/>
          </a:xfrm>
          <a:prstGeom prst="rect">
            <a:avLst/>
          </a:prstGeom>
          <a:noFill/>
        </p:spPr>
        <p:txBody>
          <a:bodyPr wrap="square" anchor="ctr" lIns="45720" rIns="45720" tIns="27432" bIns="27432">
            <a:spAutoFit/>
          </a:bodyPr>
          <a:lstStyle/>
          <a:p>
            <a:pPr algn="r"/>
            <a:r>
              <a:rPr sz="2200" b="1">
                <a:solidFill>
                  <a:srgbClr val="F2C14E"/>
                </a:solidFill>
                <a:latin typeface="Calibri"/>
              </a:rPr>
              <a:t>every 2 s</a:t>
            </a:r>
          </a:p>
        </p:txBody>
      </p:sp>
      <p:sp>
        <p:nvSpPr>
          <p:cNvPr id="10" name="Rounded Rectangle 9"/>
          <p:cNvSpPr/>
          <p:nvPr/>
        </p:nvSpPr>
        <p:spPr>
          <a:xfrm>
            <a:off x="640080" y="2606039"/>
            <a:ext cx="7498079" cy="713232"/>
          </a:xfrm>
          <a:prstGeom prst="roundRect">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606039"/>
            <a:ext cx="5029200" cy="713232"/>
          </a:xfrm>
          <a:prstGeom prst="rect">
            <a:avLst/>
          </a:prstGeom>
          <a:noFill/>
        </p:spPr>
        <p:txBody>
          <a:bodyPr wrap="square" anchor="ctr" lIns="45720" rIns="45720" tIns="27432" bIns="27432">
            <a:spAutoFit/>
          </a:bodyPr>
          <a:lstStyle/>
          <a:p>
            <a:pPr algn="l"/>
            <a:r>
              <a:rPr sz="2200" b="0">
                <a:solidFill>
                  <a:srgbClr val="F1EEFB"/>
                </a:solidFill>
                <a:latin typeface="Calibri"/>
              </a:rPr>
              <a:t>Gateway ping</a:t>
            </a:r>
          </a:p>
        </p:txBody>
      </p:sp>
      <p:sp>
        <p:nvSpPr>
          <p:cNvPr id="12" name="TextBox 11"/>
          <p:cNvSpPr txBox="1"/>
          <p:nvPr/>
        </p:nvSpPr>
        <p:spPr>
          <a:xfrm>
            <a:off x="5669280" y="2606039"/>
            <a:ext cx="2286000" cy="713232"/>
          </a:xfrm>
          <a:prstGeom prst="rect">
            <a:avLst/>
          </a:prstGeom>
          <a:noFill/>
        </p:spPr>
        <p:txBody>
          <a:bodyPr wrap="square" anchor="ctr" lIns="45720" rIns="45720" tIns="27432" bIns="27432">
            <a:spAutoFit/>
          </a:bodyPr>
          <a:lstStyle/>
          <a:p>
            <a:pPr algn="r"/>
            <a:r>
              <a:rPr sz="2200" b="1">
                <a:solidFill>
                  <a:srgbClr val="F2C14E"/>
                </a:solidFill>
                <a:latin typeface="Calibri"/>
              </a:rPr>
              <a:t>every 4 s</a:t>
            </a:r>
          </a:p>
        </p:txBody>
      </p:sp>
      <p:sp>
        <p:nvSpPr>
          <p:cNvPr id="13" name="Rounded Rectangle 12"/>
          <p:cNvSpPr/>
          <p:nvPr/>
        </p:nvSpPr>
        <p:spPr>
          <a:xfrm>
            <a:off x="640080" y="3474720"/>
            <a:ext cx="7498079" cy="713232"/>
          </a:xfrm>
          <a:prstGeom prst="roundRect">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474720"/>
            <a:ext cx="5029200" cy="713232"/>
          </a:xfrm>
          <a:prstGeom prst="rect">
            <a:avLst/>
          </a:prstGeom>
          <a:noFill/>
        </p:spPr>
        <p:txBody>
          <a:bodyPr wrap="square" anchor="ctr" lIns="45720" rIns="45720" tIns="27432" bIns="27432">
            <a:spAutoFit/>
          </a:bodyPr>
          <a:lstStyle/>
          <a:p>
            <a:pPr algn="l"/>
            <a:r>
              <a:rPr sz="2200" b="0">
                <a:solidFill>
                  <a:srgbClr val="F1EEFB"/>
                </a:solidFill>
                <a:latin typeface="Calibri"/>
              </a:rPr>
              <a:t>Internet ping + HTTP</a:t>
            </a:r>
          </a:p>
        </p:txBody>
      </p:sp>
      <p:sp>
        <p:nvSpPr>
          <p:cNvPr id="15" name="TextBox 14"/>
          <p:cNvSpPr txBox="1"/>
          <p:nvPr/>
        </p:nvSpPr>
        <p:spPr>
          <a:xfrm>
            <a:off x="5669280" y="3474720"/>
            <a:ext cx="2286000" cy="713232"/>
          </a:xfrm>
          <a:prstGeom prst="rect">
            <a:avLst/>
          </a:prstGeom>
          <a:noFill/>
        </p:spPr>
        <p:txBody>
          <a:bodyPr wrap="square" anchor="ctr" lIns="45720" rIns="45720" tIns="27432" bIns="27432">
            <a:spAutoFit/>
          </a:bodyPr>
          <a:lstStyle/>
          <a:p>
            <a:pPr algn="r"/>
            <a:r>
              <a:rPr sz="2200" b="1">
                <a:solidFill>
                  <a:srgbClr val="F2C14E"/>
                </a:solidFill>
                <a:latin typeface="Calibri"/>
              </a:rPr>
              <a:t>every 6 s</a:t>
            </a:r>
          </a:p>
        </p:txBody>
      </p:sp>
      <p:sp>
        <p:nvSpPr>
          <p:cNvPr id="16" name="Rounded Rectangle 15"/>
          <p:cNvSpPr/>
          <p:nvPr/>
        </p:nvSpPr>
        <p:spPr>
          <a:xfrm>
            <a:off x="640080" y="4343400"/>
            <a:ext cx="7498079" cy="713232"/>
          </a:xfrm>
          <a:prstGeom prst="roundRect">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343400"/>
            <a:ext cx="5029200" cy="713232"/>
          </a:xfrm>
          <a:prstGeom prst="rect">
            <a:avLst/>
          </a:prstGeom>
          <a:noFill/>
        </p:spPr>
        <p:txBody>
          <a:bodyPr wrap="square" anchor="ctr" lIns="45720" rIns="45720" tIns="27432" bIns="27432">
            <a:spAutoFit/>
          </a:bodyPr>
          <a:lstStyle/>
          <a:p>
            <a:pPr algn="l"/>
            <a:r>
              <a:rPr sz="2200" b="0">
                <a:solidFill>
                  <a:srgbClr val="F1EEFB"/>
                </a:solidFill>
                <a:latin typeface="Calibri"/>
              </a:rPr>
              <a:t>Services and URLs</a:t>
            </a:r>
          </a:p>
        </p:txBody>
      </p:sp>
      <p:sp>
        <p:nvSpPr>
          <p:cNvPr id="18" name="TextBox 17"/>
          <p:cNvSpPr txBox="1"/>
          <p:nvPr/>
        </p:nvSpPr>
        <p:spPr>
          <a:xfrm>
            <a:off x="5669280" y="4343400"/>
            <a:ext cx="2286000" cy="713232"/>
          </a:xfrm>
          <a:prstGeom prst="rect">
            <a:avLst/>
          </a:prstGeom>
          <a:noFill/>
        </p:spPr>
        <p:txBody>
          <a:bodyPr wrap="square" anchor="ctr" lIns="45720" rIns="45720" tIns="27432" bIns="27432">
            <a:spAutoFit/>
          </a:bodyPr>
          <a:lstStyle/>
          <a:p>
            <a:pPr algn="r"/>
            <a:r>
              <a:rPr sz="2200" b="1">
                <a:solidFill>
                  <a:srgbClr val="F2C14E"/>
                </a:solidFill>
                <a:latin typeface="Calibri"/>
              </a:rPr>
              <a:t>every 6 s</a:t>
            </a:r>
          </a:p>
        </p:txBody>
      </p:sp>
      <p:sp>
        <p:nvSpPr>
          <p:cNvPr id="19" name="Rounded Rectangle 18"/>
          <p:cNvSpPr/>
          <p:nvPr/>
        </p:nvSpPr>
        <p:spPr>
          <a:xfrm>
            <a:off x="640080" y="5212079"/>
            <a:ext cx="7498079" cy="713232"/>
          </a:xfrm>
          <a:prstGeom prst="roundRect">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212079"/>
            <a:ext cx="5029200" cy="713232"/>
          </a:xfrm>
          <a:prstGeom prst="rect">
            <a:avLst/>
          </a:prstGeom>
          <a:noFill/>
        </p:spPr>
        <p:txBody>
          <a:bodyPr wrap="square" anchor="ctr" lIns="45720" rIns="45720" tIns="27432" bIns="27432">
            <a:spAutoFit/>
          </a:bodyPr>
          <a:lstStyle/>
          <a:p>
            <a:pPr algn="l"/>
            <a:r>
              <a:rPr sz="2200" b="0">
                <a:solidFill>
                  <a:srgbClr val="F1EEFB"/>
                </a:solidFill>
                <a:latin typeface="Calibri"/>
              </a:rPr>
              <a:t>DNS lookup</a:t>
            </a:r>
          </a:p>
        </p:txBody>
      </p:sp>
      <p:sp>
        <p:nvSpPr>
          <p:cNvPr id="21" name="TextBox 20"/>
          <p:cNvSpPr txBox="1"/>
          <p:nvPr/>
        </p:nvSpPr>
        <p:spPr>
          <a:xfrm>
            <a:off x="5669280" y="5212079"/>
            <a:ext cx="2286000" cy="713232"/>
          </a:xfrm>
          <a:prstGeom prst="rect">
            <a:avLst/>
          </a:prstGeom>
          <a:noFill/>
        </p:spPr>
        <p:txBody>
          <a:bodyPr wrap="square" anchor="ctr" lIns="45720" rIns="45720" tIns="27432" bIns="27432">
            <a:spAutoFit/>
          </a:bodyPr>
          <a:lstStyle/>
          <a:p>
            <a:pPr algn="r"/>
            <a:r>
              <a:rPr sz="2200" b="1">
                <a:solidFill>
                  <a:srgbClr val="F2C14E"/>
                </a:solidFill>
                <a:latin typeface="Calibri"/>
              </a:rPr>
              <a:t>every 10 s</a:t>
            </a:r>
          </a:p>
        </p:txBody>
      </p:sp>
      <p:sp>
        <p:nvSpPr>
          <p:cNvPr id="22" name="Rounded Rectangle 21"/>
          <p:cNvSpPr/>
          <p:nvPr/>
        </p:nvSpPr>
        <p:spPr>
          <a:xfrm>
            <a:off x="8503920" y="1737360"/>
            <a:ext cx="3200400" cy="4206240"/>
          </a:xfrm>
          <a:prstGeom prst="roundRect">
            <a:avLst>
              <a:gd name="adj" fmla="val 8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0" y="1874519"/>
            <a:ext cx="2834640" cy="457200"/>
          </a:xfrm>
          <a:prstGeom prst="rect">
            <a:avLst/>
          </a:prstGeom>
          <a:noFill/>
        </p:spPr>
        <p:txBody>
          <a:bodyPr wrap="square" anchor="t" lIns="45720" rIns="45720" tIns="27432" bIns="27432">
            <a:spAutoFit/>
          </a:bodyPr>
          <a:lstStyle/>
          <a:p>
            <a:pPr algn="l"/>
            <a:r>
              <a:rPr sz="2000" b="1">
                <a:solidFill>
                  <a:srgbClr val="F2C14E"/>
                </a:solidFill>
                <a:latin typeface="Calibri"/>
              </a:rPr>
              <a:t>Why different?</a:t>
            </a:r>
          </a:p>
        </p:txBody>
      </p:sp>
      <p:sp>
        <p:nvSpPr>
          <p:cNvPr id="24" name="TextBox 23"/>
          <p:cNvSpPr txBox="1"/>
          <p:nvPr/>
        </p:nvSpPr>
        <p:spPr>
          <a:xfrm>
            <a:off x="8686800" y="2423160"/>
            <a:ext cx="2834640" cy="3383279"/>
          </a:xfrm>
          <a:prstGeom prst="rect">
            <a:avLst/>
          </a:prstGeom>
          <a:noFill/>
        </p:spPr>
        <p:txBody>
          <a:bodyPr wrap="square" anchor="t" lIns="45720" rIns="45720" tIns="27432" bIns="27432">
            <a:spAutoFit/>
          </a:bodyPr>
          <a:lstStyle/>
          <a:p>
            <a:pPr algn="l"/>
            <a:r>
              <a:rPr sz="1900" b="0">
                <a:solidFill>
                  <a:srgbClr val="F1EEFB"/>
                </a:solidFill>
                <a:latin typeface="Calibri"/>
              </a:rPr>
              <a:t>Local counters are free to read. Network tests are spaced out so NetWatch never floods the network.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B22"/>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9B8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65760"/>
          </a:xfrm>
          <a:prstGeom prst="rect">
            <a:avLst/>
          </a:prstGeom>
          <a:noFill/>
        </p:spPr>
        <p:txBody>
          <a:bodyPr wrap="square" anchor="t" lIns="45720" rIns="45720" tIns="27432" bIns="27432">
            <a:spAutoFit/>
          </a:bodyPr>
          <a:lstStyle/>
          <a:p>
            <a:pPr algn="l"/>
            <a:r>
              <a:rPr sz="1300" b="1">
                <a:solidFill>
                  <a:srgbClr val="F2C14E"/>
                </a:solidFill>
                <a:latin typeface="Calibri"/>
              </a:rPr>
              <a:t>MONITORING</a:t>
            </a:r>
          </a:p>
        </p:txBody>
      </p:sp>
      <p:sp>
        <p:nvSpPr>
          <p:cNvPr id="4" name="TextBox 3"/>
          <p:cNvSpPr txBox="1"/>
          <p:nvPr/>
        </p:nvSpPr>
        <p:spPr>
          <a:xfrm>
            <a:off x="640080" y="640080"/>
            <a:ext cx="10789920" cy="822960"/>
          </a:xfrm>
          <a:prstGeom prst="rect">
            <a:avLst/>
          </a:prstGeom>
          <a:noFill/>
        </p:spPr>
        <p:txBody>
          <a:bodyPr wrap="square" anchor="t" lIns="45720" rIns="45720" tIns="27432" bIns="27432">
            <a:spAutoFit/>
          </a:bodyPr>
          <a:lstStyle/>
          <a:p>
            <a:pPr algn="l"/>
            <a:r>
              <a:rPr sz="3800" b="1">
                <a:solidFill>
                  <a:srgbClr val="F1EEFB"/>
                </a:solidFill>
                <a:latin typeface="Calibri"/>
              </a:rPr>
              <a:t>Gateway and internet checks</a:t>
            </a:r>
          </a:p>
        </p:txBody>
      </p:sp>
      <p:sp>
        <p:nvSpPr>
          <p:cNvPr id="5" name="TextBox 4"/>
          <p:cNvSpPr txBox="1"/>
          <p:nvPr/>
        </p:nvSpPr>
        <p:spPr>
          <a:xfrm>
            <a:off x="10607040" y="6400800"/>
            <a:ext cx="1280160" cy="274320"/>
          </a:xfrm>
          <a:prstGeom prst="rect">
            <a:avLst/>
          </a:prstGeom>
          <a:noFill/>
        </p:spPr>
        <p:txBody>
          <a:bodyPr wrap="square" anchor="t" lIns="45720" rIns="45720" tIns="27432" bIns="27432">
            <a:spAutoFit/>
          </a:bodyPr>
          <a:lstStyle/>
          <a:p>
            <a:pPr algn="r"/>
            <a:r>
              <a:rPr sz="1100" b="0">
                <a:solidFill>
                  <a:srgbClr val="B4AED0"/>
                </a:solidFill>
                <a:latin typeface="Calibri"/>
              </a:rPr>
              <a:t>10 / 18</a:t>
            </a:r>
          </a:p>
        </p:txBody>
      </p:sp>
      <p:sp>
        <p:nvSpPr>
          <p:cNvPr id="6" name="TextBox 5"/>
          <p:cNvSpPr txBox="1"/>
          <p:nvPr/>
        </p:nvSpPr>
        <p:spPr>
          <a:xfrm>
            <a:off x="640080" y="6400800"/>
            <a:ext cx="7315200" cy="274320"/>
          </a:xfrm>
          <a:prstGeom prst="rect">
            <a:avLst/>
          </a:prstGeom>
          <a:noFill/>
        </p:spPr>
        <p:txBody>
          <a:bodyPr wrap="square" anchor="t" lIns="45720" rIns="45720" tIns="27432" bIns="27432">
            <a:spAutoFit/>
          </a:bodyPr>
          <a:lstStyle/>
          <a:p>
            <a:pPr algn="l"/>
            <a:r>
              <a:rPr sz="1100" b="0">
                <a:solidFill>
                  <a:srgbClr val="B4AED0"/>
                </a:solidFill>
                <a:latin typeface="Calibri"/>
              </a:rPr>
              <a:t>NetWatch | Computer Networks Mini Project</a:t>
            </a:r>
          </a:p>
        </p:txBody>
      </p:sp>
      <p:sp>
        <p:nvSpPr>
          <p:cNvPr id="7" name="Rounded Rectangle 6"/>
          <p:cNvSpPr/>
          <p:nvPr/>
        </p:nvSpPr>
        <p:spPr>
          <a:xfrm>
            <a:off x="640080" y="1828800"/>
            <a:ext cx="2926080" cy="1097280"/>
          </a:xfrm>
          <a:prstGeom prst="roundRect">
            <a:avLst>
              <a:gd name="adj" fmla="val 12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828800"/>
            <a:ext cx="2926080" cy="1097280"/>
          </a:xfrm>
          <a:prstGeom prst="rect">
            <a:avLst/>
          </a:prstGeom>
          <a:noFill/>
        </p:spPr>
        <p:txBody>
          <a:bodyPr wrap="square" anchor="ctr" lIns="45720" rIns="45720" tIns="27432" bIns="27432">
            <a:spAutoFit/>
          </a:bodyPr>
          <a:lstStyle/>
          <a:p>
            <a:pPr algn="ctr"/>
            <a:r>
              <a:rPr sz="2200" b="1">
                <a:solidFill>
                  <a:srgbClr val="F1EEFB"/>
                </a:solidFill>
                <a:latin typeface="Calibri"/>
              </a:rPr>
              <a:t>Computer</a:t>
            </a:r>
          </a:p>
        </p:txBody>
      </p:sp>
      <p:cxnSp>
        <p:nvCxnSpPr>
          <p:cNvPr id="9" name="Connector 8"/>
          <p:cNvCxnSpPr/>
          <p:nvPr/>
        </p:nvCxnSpPr>
        <p:spPr>
          <a:xfrm>
            <a:off x="3566160" y="2377440"/>
            <a:ext cx="822960" cy="0"/>
          </a:xfrm>
          <a:prstGeom prst="line">
            <a:avLst/>
          </a:prstGeom>
          <a:ln w="31750">
            <a:solidFill>
              <a:srgbClr val="9B87F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389120" y="1828800"/>
            <a:ext cx="2926080" cy="1097280"/>
          </a:xfrm>
          <a:prstGeom prst="roundRect">
            <a:avLst>
              <a:gd name="adj" fmla="val 12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1828800"/>
            <a:ext cx="2926080" cy="1097280"/>
          </a:xfrm>
          <a:prstGeom prst="rect">
            <a:avLst/>
          </a:prstGeom>
          <a:noFill/>
        </p:spPr>
        <p:txBody>
          <a:bodyPr wrap="square" anchor="ctr" lIns="45720" rIns="45720" tIns="27432" bIns="27432">
            <a:spAutoFit/>
          </a:bodyPr>
          <a:lstStyle/>
          <a:p>
            <a:pPr algn="ctr"/>
            <a:r>
              <a:rPr sz="2200" b="1">
                <a:solidFill>
                  <a:srgbClr val="F1EEFB"/>
                </a:solidFill>
                <a:latin typeface="Calibri"/>
              </a:rPr>
              <a:t>Gateway (router)</a:t>
            </a:r>
          </a:p>
        </p:txBody>
      </p:sp>
      <p:cxnSp>
        <p:nvCxnSpPr>
          <p:cNvPr id="12" name="Connector 11"/>
          <p:cNvCxnSpPr/>
          <p:nvPr/>
        </p:nvCxnSpPr>
        <p:spPr>
          <a:xfrm>
            <a:off x="7315200" y="2377440"/>
            <a:ext cx="822960" cy="0"/>
          </a:xfrm>
          <a:prstGeom prst="line">
            <a:avLst/>
          </a:prstGeom>
          <a:ln w="31750">
            <a:solidFill>
              <a:srgbClr val="9B87F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138160" y="1828800"/>
            <a:ext cx="2926080" cy="1097280"/>
          </a:xfrm>
          <a:prstGeom prst="roundRect">
            <a:avLst>
              <a:gd name="adj" fmla="val 12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1828800"/>
            <a:ext cx="2926080" cy="1097280"/>
          </a:xfrm>
          <a:prstGeom prst="rect">
            <a:avLst/>
          </a:prstGeom>
          <a:noFill/>
        </p:spPr>
        <p:txBody>
          <a:bodyPr wrap="square" anchor="ctr" lIns="45720" rIns="45720" tIns="27432" bIns="27432">
            <a:spAutoFit/>
          </a:bodyPr>
          <a:lstStyle/>
          <a:p>
            <a:pPr algn="ctr"/>
            <a:r>
              <a:rPr sz="2200" b="1">
                <a:solidFill>
                  <a:srgbClr val="F1EEFB"/>
                </a:solidFill>
                <a:latin typeface="Calibri"/>
              </a:rPr>
              <a:t>Internet</a:t>
            </a:r>
          </a:p>
        </p:txBody>
      </p:sp>
      <p:sp>
        <p:nvSpPr>
          <p:cNvPr id="15" name="Rounded Rectangle 14"/>
          <p:cNvSpPr/>
          <p:nvPr/>
        </p:nvSpPr>
        <p:spPr>
          <a:xfrm>
            <a:off x="640080" y="3383280"/>
            <a:ext cx="5303520" cy="2468880"/>
          </a:xfrm>
          <a:prstGeom prst="roundRect">
            <a:avLst>
              <a:gd name="adj" fmla="val 8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 y="3520440"/>
            <a:ext cx="4937759" cy="457200"/>
          </a:xfrm>
          <a:prstGeom prst="rect">
            <a:avLst/>
          </a:prstGeom>
          <a:noFill/>
        </p:spPr>
        <p:txBody>
          <a:bodyPr wrap="square" anchor="t" lIns="45720" rIns="45720" tIns="27432" bIns="27432">
            <a:spAutoFit/>
          </a:bodyPr>
          <a:lstStyle/>
          <a:p>
            <a:pPr algn="l"/>
            <a:r>
              <a:rPr sz="2000" b="1">
                <a:solidFill>
                  <a:srgbClr val="F2C14E"/>
                </a:solidFill>
                <a:latin typeface="Calibri"/>
              </a:rPr>
              <a:t>Gateway reachable, internet down</a:t>
            </a:r>
          </a:p>
        </p:txBody>
      </p:sp>
      <p:sp>
        <p:nvSpPr>
          <p:cNvPr id="17" name="TextBox 16"/>
          <p:cNvSpPr txBox="1"/>
          <p:nvPr/>
        </p:nvSpPr>
        <p:spPr>
          <a:xfrm>
            <a:off x="822959" y="4069080"/>
            <a:ext cx="4937759" cy="1645920"/>
          </a:xfrm>
          <a:prstGeom prst="rect">
            <a:avLst/>
          </a:prstGeom>
          <a:noFill/>
        </p:spPr>
        <p:txBody>
          <a:bodyPr wrap="square" anchor="t" lIns="45720" rIns="45720" tIns="27432" bIns="27432">
            <a:spAutoFit/>
          </a:bodyPr>
          <a:lstStyle/>
          <a:p>
            <a:pPr algn="l"/>
            <a:r>
              <a:rPr sz="2000" b="0">
                <a:solidFill>
                  <a:srgbClr val="F1EEFB"/>
                </a:solidFill>
                <a:latin typeface="Calibri"/>
              </a:rPr>
              <a:t>Possible upstream, WAN or DNS problem.</a:t>
            </a:r>
          </a:p>
        </p:txBody>
      </p:sp>
      <p:sp>
        <p:nvSpPr>
          <p:cNvPr id="18" name="Rounded Rectangle 17"/>
          <p:cNvSpPr/>
          <p:nvPr/>
        </p:nvSpPr>
        <p:spPr>
          <a:xfrm>
            <a:off x="6217920" y="3383280"/>
            <a:ext cx="5303520" cy="2468880"/>
          </a:xfrm>
          <a:prstGeom prst="roundRect">
            <a:avLst>
              <a:gd name="adj" fmla="val 8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3520440"/>
            <a:ext cx="4937759" cy="457200"/>
          </a:xfrm>
          <a:prstGeom prst="rect">
            <a:avLst/>
          </a:prstGeom>
          <a:noFill/>
        </p:spPr>
        <p:txBody>
          <a:bodyPr wrap="square" anchor="t" lIns="45720" rIns="45720" tIns="27432" bIns="27432">
            <a:spAutoFit/>
          </a:bodyPr>
          <a:lstStyle/>
          <a:p>
            <a:pPr algn="l"/>
            <a:r>
              <a:rPr sz="2000" b="1">
                <a:solidFill>
                  <a:srgbClr val="F2C14E"/>
                </a:solidFill>
                <a:latin typeface="Calibri"/>
              </a:rPr>
              <a:t>Gateway unreachable</a:t>
            </a:r>
          </a:p>
        </p:txBody>
      </p:sp>
      <p:sp>
        <p:nvSpPr>
          <p:cNvPr id="20" name="TextBox 19"/>
          <p:cNvSpPr txBox="1"/>
          <p:nvPr/>
        </p:nvSpPr>
        <p:spPr>
          <a:xfrm>
            <a:off x="6400800" y="4069080"/>
            <a:ext cx="4937759" cy="1645920"/>
          </a:xfrm>
          <a:prstGeom prst="rect">
            <a:avLst/>
          </a:prstGeom>
          <a:noFill/>
        </p:spPr>
        <p:txBody>
          <a:bodyPr wrap="square" anchor="t" lIns="45720" rIns="45720" tIns="27432" bIns="27432">
            <a:spAutoFit/>
          </a:bodyPr>
          <a:lstStyle/>
          <a:p>
            <a:pPr algn="l"/>
            <a:r>
              <a:rPr sz="2000" b="0">
                <a:solidFill>
                  <a:srgbClr val="F1EEFB"/>
                </a:solidFill>
                <a:latin typeface="Calibri"/>
              </a:rPr>
              <a:t>Local network path problem is more likely.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0B22"/>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9B8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65760"/>
          </a:xfrm>
          <a:prstGeom prst="rect">
            <a:avLst/>
          </a:prstGeom>
          <a:noFill/>
        </p:spPr>
        <p:txBody>
          <a:bodyPr wrap="square" anchor="t" lIns="45720" rIns="45720" tIns="27432" bIns="27432">
            <a:spAutoFit/>
          </a:bodyPr>
          <a:lstStyle/>
          <a:p>
            <a:pPr algn="l"/>
            <a:r>
              <a:rPr sz="1300" b="1">
                <a:solidFill>
                  <a:srgbClr val="F2C14E"/>
                </a:solidFill>
                <a:latin typeface="Calibri"/>
              </a:rPr>
              <a:t>MONITORING</a:t>
            </a:r>
          </a:p>
        </p:txBody>
      </p:sp>
      <p:sp>
        <p:nvSpPr>
          <p:cNvPr id="4" name="TextBox 3"/>
          <p:cNvSpPr txBox="1"/>
          <p:nvPr/>
        </p:nvSpPr>
        <p:spPr>
          <a:xfrm>
            <a:off x="640080" y="640080"/>
            <a:ext cx="10789920" cy="822960"/>
          </a:xfrm>
          <a:prstGeom prst="rect">
            <a:avLst/>
          </a:prstGeom>
          <a:noFill/>
        </p:spPr>
        <p:txBody>
          <a:bodyPr wrap="square" anchor="t" lIns="45720" rIns="45720" tIns="27432" bIns="27432">
            <a:spAutoFit/>
          </a:bodyPr>
          <a:lstStyle/>
          <a:p>
            <a:pPr algn="l"/>
            <a:r>
              <a:rPr sz="3800" b="1">
                <a:solidFill>
                  <a:srgbClr val="F1EEFB"/>
                </a:solidFill>
                <a:latin typeface="Calibri"/>
              </a:rPr>
              <a:t>DNS and service monitoring</a:t>
            </a:r>
          </a:p>
        </p:txBody>
      </p:sp>
      <p:sp>
        <p:nvSpPr>
          <p:cNvPr id="5" name="TextBox 4"/>
          <p:cNvSpPr txBox="1"/>
          <p:nvPr/>
        </p:nvSpPr>
        <p:spPr>
          <a:xfrm>
            <a:off x="10607040" y="6400800"/>
            <a:ext cx="1280160" cy="274320"/>
          </a:xfrm>
          <a:prstGeom prst="rect">
            <a:avLst/>
          </a:prstGeom>
          <a:noFill/>
        </p:spPr>
        <p:txBody>
          <a:bodyPr wrap="square" anchor="t" lIns="45720" rIns="45720" tIns="27432" bIns="27432">
            <a:spAutoFit/>
          </a:bodyPr>
          <a:lstStyle/>
          <a:p>
            <a:pPr algn="r"/>
            <a:r>
              <a:rPr sz="1100" b="0">
                <a:solidFill>
                  <a:srgbClr val="B4AED0"/>
                </a:solidFill>
                <a:latin typeface="Calibri"/>
              </a:rPr>
              <a:t>11 / 18</a:t>
            </a:r>
          </a:p>
        </p:txBody>
      </p:sp>
      <p:sp>
        <p:nvSpPr>
          <p:cNvPr id="6" name="TextBox 5"/>
          <p:cNvSpPr txBox="1"/>
          <p:nvPr/>
        </p:nvSpPr>
        <p:spPr>
          <a:xfrm>
            <a:off x="640080" y="6400800"/>
            <a:ext cx="7315200" cy="274320"/>
          </a:xfrm>
          <a:prstGeom prst="rect">
            <a:avLst/>
          </a:prstGeom>
          <a:noFill/>
        </p:spPr>
        <p:txBody>
          <a:bodyPr wrap="square" anchor="t" lIns="45720" rIns="45720" tIns="27432" bIns="27432">
            <a:spAutoFit/>
          </a:bodyPr>
          <a:lstStyle/>
          <a:p>
            <a:pPr algn="l"/>
            <a:r>
              <a:rPr sz="1100" b="0">
                <a:solidFill>
                  <a:srgbClr val="B4AED0"/>
                </a:solidFill>
                <a:latin typeface="Calibri"/>
              </a:rPr>
              <a:t>NetWatch | Computer Networks Mini Project</a:t>
            </a:r>
          </a:p>
        </p:txBody>
      </p:sp>
      <p:sp>
        <p:nvSpPr>
          <p:cNvPr id="7" name="Rounded Rectangle 6"/>
          <p:cNvSpPr/>
          <p:nvPr/>
        </p:nvSpPr>
        <p:spPr>
          <a:xfrm>
            <a:off x="640080" y="1737360"/>
            <a:ext cx="5303520" cy="3108960"/>
          </a:xfrm>
          <a:prstGeom prst="roundRect">
            <a:avLst>
              <a:gd name="adj" fmla="val 8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874519"/>
            <a:ext cx="4937759" cy="457200"/>
          </a:xfrm>
          <a:prstGeom prst="rect">
            <a:avLst/>
          </a:prstGeom>
          <a:noFill/>
        </p:spPr>
        <p:txBody>
          <a:bodyPr wrap="square" anchor="t" lIns="45720" rIns="45720" tIns="27432" bIns="27432">
            <a:spAutoFit/>
          </a:bodyPr>
          <a:lstStyle/>
          <a:p>
            <a:pPr algn="l"/>
            <a:r>
              <a:rPr sz="2000" b="1">
                <a:solidFill>
                  <a:srgbClr val="F2C14E"/>
                </a:solidFill>
                <a:latin typeface="Calibri"/>
              </a:rPr>
              <a:t>DNS</a:t>
            </a:r>
          </a:p>
        </p:txBody>
      </p:sp>
      <p:sp>
        <p:nvSpPr>
          <p:cNvPr id="9" name="TextBox 8"/>
          <p:cNvSpPr txBox="1"/>
          <p:nvPr/>
        </p:nvSpPr>
        <p:spPr>
          <a:xfrm>
            <a:off x="822959" y="2423160"/>
            <a:ext cx="4937759" cy="2286000"/>
          </a:xfrm>
          <a:prstGeom prst="rect">
            <a:avLst/>
          </a:prstGeom>
          <a:noFill/>
        </p:spPr>
        <p:txBody>
          <a:bodyPr wrap="square" anchor="t" lIns="45720" rIns="45720" tIns="27432" bIns="27432">
            <a:spAutoFit/>
          </a:bodyPr>
          <a:lstStyle/>
          <a:p>
            <a:pPr algn="l"/>
            <a:r>
              <a:rPr sz="2000" b="0">
                <a:solidFill>
                  <a:srgbClr val="F1EEFB"/>
                </a:solidFill>
                <a:latin typeface="Calibri"/>
              </a:rPr>
              <a:t>Real name resolution of a chosen domain. Shows resolved IP and response time.</a:t>
            </a:r>
          </a:p>
        </p:txBody>
      </p:sp>
      <p:sp>
        <p:nvSpPr>
          <p:cNvPr id="10" name="Rounded Rectangle 9"/>
          <p:cNvSpPr/>
          <p:nvPr/>
        </p:nvSpPr>
        <p:spPr>
          <a:xfrm>
            <a:off x="6217920" y="1737360"/>
            <a:ext cx="5303520" cy="3108960"/>
          </a:xfrm>
          <a:prstGeom prst="roundRect">
            <a:avLst>
              <a:gd name="adj" fmla="val 8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874519"/>
            <a:ext cx="4937759" cy="457200"/>
          </a:xfrm>
          <a:prstGeom prst="rect">
            <a:avLst/>
          </a:prstGeom>
          <a:noFill/>
        </p:spPr>
        <p:txBody>
          <a:bodyPr wrap="square" anchor="t" lIns="45720" rIns="45720" tIns="27432" bIns="27432">
            <a:spAutoFit/>
          </a:bodyPr>
          <a:lstStyle/>
          <a:p>
            <a:pPr algn="l"/>
            <a:r>
              <a:rPr sz="2000" b="1">
                <a:solidFill>
                  <a:srgbClr val="F2C14E"/>
                </a:solidFill>
                <a:latin typeface="Calibri"/>
              </a:rPr>
              <a:t>Services</a:t>
            </a:r>
          </a:p>
        </p:txBody>
      </p:sp>
      <p:sp>
        <p:nvSpPr>
          <p:cNvPr id="12" name="TextBox 11"/>
          <p:cNvSpPr txBox="1"/>
          <p:nvPr/>
        </p:nvSpPr>
        <p:spPr>
          <a:xfrm>
            <a:off x="6400800" y="2423160"/>
            <a:ext cx="4937759" cy="2286000"/>
          </a:xfrm>
          <a:prstGeom prst="rect">
            <a:avLst/>
          </a:prstGeom>
          <a:noFill/>
        </p:spPr>
        <p:txBody>
          <a:bodyPr wrap="square" anchor="t" lIns="45720" rIns="45720" tIns="27432" bIns="27432">
            <a:spAutoFit/>
          </a:bodyPr>
          <a:lstStyle/>
          <a:p>
            <a:pPr algn="l"/>
            <a:r>
              <a:rPr sz="2000" b="0">
                <a:solidFill>
                  <a:srgbClr val="F1EEFB"/>
                </a:solidFill>
                <a:latin typeface="Calibri"/>
              </a:rPr>
              <a:t>One TCP connection to each host and port you configure. UP or DOWN with reason.</a:t>
            </a:r>
          </a:p>
        </p:txBody>
      </p:sp>
      <p:sp>
        <p:nvSpPr>
          <p:cNvPr id="13" name="Rounded Rectangle 12"/>
          <p:cNvSpPr/>
          <p:nvPr/>
        </p:nvSpPr>
        <p:spPr>
          <a:xfrm>
            <a:off x="640080" y="5120640"/>
            <a:ext cx="10881360" cy="822960"/>
          </a:xfrm>
          <a:prstGeom prst="roundRect">
            <a:avLst/>
          </a:prstGeom>
          <a:solidFill>
            <a:srgbClr val="4A3A10"/>
          </a:solidFill>
          <a:ln w="19050">
            <a:solidFill>
              <a:srgbClr val="F2C1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5120640"/>
            <a:ext cx="10881360" cy="822960"/>
          </a:xfrm>
          <a:prstGeom prst="rect">
            <a:avLst/>
          </a:prstGeom>
          <a:noFill/>
        </p:spPr>
        <p:txBody>
          <a:bodyPr wrap="square" anchor="ctr" lIns="45720" rIns="45720" tIns="27432" bIns="27432">
            <a:spAutoFit/>
          </a:bodyPr>
          <a:lstStyle/>
          <a:p>
            <a:pPr algn="ctr"/>
            <a:r>
              <a:rPr sz="2200" b="1">
                <a:solidFill>
                  <a:srgbClr val="F2C14E"/>
                </a:solidFill>
                <a:latin typeface="Calibri"/>
              </a:rPr>
              <a:t>No port scanning. Only the hosts and ports you enter.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0B22"/>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9B8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65760"/>
          </a:xfrm>
          <a:prstGeom prst="rect">
            <a:avLst/>
          </a:prstGeom>
          <a:noFill/>
        </p:spPr>
        <p:txBody>
          <a:bodyPr wrap="square" anchor="t" lIns="45720" rIns="45720" tIns="27432" bIns="27432">
            <a:spAutoFit/>
          </a:bodyPr>
          <a:lstStyle/>
          <a:p>
            <a:pPr algn="l"/>
            <a:r>
              <a:rPr sz="1300" b="1">
                <a:solidFill>
                  <a:srgbClr val="F2C14E"/>
                </a:solidFill>
                <a:latin typeface="Calibri"/>
              </a:rPr>
              <a:t>MEASUREMENTS</a:t>
            </a:r>
          </a:p>
        </p:txBody>
      </p:sp>
      <p:sp>
        <p:nvSpPr>
          <p:cNvPr id="4" name="TextBox 3"/>
          <p:cNvSpPr txBox="1"/>
          <p:nvPr/>
        </p:nvSpPr>
        <p:spPr>
          <a:xfrm>
            <a:off x="640080" y="640080"/>
            <a:ext cx="10789920" cy="822960"/>
          </a:xfrm>
          <a:prstGeom prst="rect">
            <a:avLst/>
          </a:prstGeom>
          <a:noFill/>
        </p:spPr>
        <p:txBody>
          <a:bodyPr wrap="square" anchor="t" lIns="45720" rIns="45720" tIns="27432" bIns="27432">
            <a:spAutoFit/>
          </a:bodyPr>
          <a:lstStyle/>
          <a:p>
            <a:pPr algn="l"/>
            <a:r>
              <a:rPr sz="3800" b="1">
                <a:solidFill>
                  <a:srgbClr val="F1EEFB"/>
                </a:solidFill>
                <a:latin typeface="Calibri"/>
              </a:rPr>
              <a:t>Latency and packet loss</a:t>
            </a:r>
          </a:p>
        </p:txBody>
      </p:sp>
      <p:sp>
        <p:nvSpPr>
          <p:cNvPr id="5" name="TextBox 4"/>
          <p:cNvSpPr txBox="1"/>
          <p:nvPr/>
        </p:nvSpPr>
        <p:spPr>
          <a:xfrm>
            <a:off x="10607040" y="6400800"/>
            <a:ext cx="1280160" cy="274320"/>
          </a:xfrm>
          <a:prstGeom prst="rect">
            <a:avLst/>
          </a:prstGeom>
          <a:noFill/>
        </p:spPr>
        <p:txBody>
          <a:bodyPr wrap="square" anchor="t" lIns="45720" rIns="45720" tIns="27432" bIns="27432">
            <a:spAutoFit/>
          </a:bodyPr>
          <a:lstStyle/>
          <a:p>
            <a:pPr algn="r"/>
            <a:r>
              <a:rPr sz="1100" b="0">
                <a:solidFill>
                  <a:srgbClr val="B4AED0"/>
                </a:solidFill>
                <a:latin typeface="Calibri"/>
              </a:rPr>
              <a:t>12 / 18</a:t>
            </a:r>
          </a:p>
        </p:txBody>
      </p:sp>
      <p:sp>
        <p:nvSpPr>
          <p:cNvPr id="6" name="TextBox 5"/>
          <p:cNvSpPr txBox="1"/>
          <p:nvPr/>
        </p:nvSpPr>
        <p:spPr>
          <a:xfrm>
            <a:off x="640080" y="6400800"/>
            <a:ext cx="7315200" cy="274320"/>
          </a:xfrm>
          <a:prstGeom prst="rect">
            <a:avLst/>
          </a:prstGeom>
          <a:noFill/>
        </p:spPr>
        <p:txBody>
          <a:bodyPr wrap="square" anchor="t" lIns="45720" rIns="45720" tIns="27432" bIns="27432">
            <a:spAutoFit/>
          </a:bodyPr>
          <a:lstStyle/>
          <a:p>
            <a:pPr algn="l"/>
            <a:r>
              <a:rPr sz="1100" b="0">
                <a:solidFill>
                  <a:srgbClr val="B4AED0"/>
                </a:solidFill>
                <a:latin typeface="Calibri"/>
              </a:rPr>
              <a:t>NetWatch | Computer Networks Mini Project</a:t>
            </a:r>
          </a:p>
        </p:txBody>
      </p:sp>
      <p:sp>
        <p:nvSpPr>
          <p:cNvPr id="7" name="Rounded Rectangle 6"/>
          <p:cNvSpPr/>
          <p:nvPr/>
        </p:nvSpPr>
        <p:spPr>
          <a:xfrm>
            <a:off x="640080" y="1737360"/>
            <a:ext cx="5303520" cy="2103120"/>
          </a:xfrm>
          <a:prstGeom prst="roundRect">
            <a:avLst>
              <a:gd name="adj" fmla="val 8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874519"/>
            <a:ext cx="4937759" cy="457200"/>
          </a:xfrm>
          <a:prstGeom prst="rect">
            <a:avLst/>
          </a:prstGeom>
          <a:noFill/>
        </p:spPr>
        <p:txBody>
          <a:bodyPr wrap="square" anchor="t" lIns="45720" rIns="45720" tIns="27432" bIns="27432">
            <a:spAutoFit/>
          </a:bodyPr>
          <a:lstStyle/>
          <a:p>
            <a:pPr algn="l"/>
            <a:r>
              <a:rPr sz="2000" b="1">
                <a:solidFill>
                  <a:srgbClr val="F2C14E"/>
                </a:solidFill>
                <a:latin typeface="Calibri"/>
              </a:rPr>
              <a:t>Latency</a:t>
            </a:r>
          </a:p>
        </p:txBody>
      </p:sp>
      <p:sp>
        <p:nvSpPr>
          <p:cNvPr id="9" name="TextBox 8"/>
          <p:cNvSpPr txBox="1"/>
          <p:nvPr/>
        </p:nvSpPr>
        <p:spPr>
          <a:xfrm>
            <a:off x="822959" y="2423160"/>
            <a:ext cx="4937759" cy="1280160"/>
          </a:xfrm>
          <a:prstGeom prst="rect">
            <a:avLst/>
          </a:prstGeom>
          <a:noFill/>
        </p:spPr>
        <p:txBody>
          <a:bodyPr wrap="square" anchor="t" lIns="45720" rIns="45720" tIns="27432" bIns="27432">
            <a:spAutoFit/>
          </a:bodyPr>
          <a:lstStyle/>
          <a:p>
            <a:pPr algn="l"/>
            <a:r>
              <a:rPr sz="1900" b="0">
                <a:solidFill>
                  <a:srgbClr val="F1EEFB"/>
                </a:solidFill>
                <a:latin typeface="Calibri"/>
              </a:rPr>
              <a:t>Reply time of each ping, in ms. Graph keeps only recent samples.</a:t>
            </a:r>
          </a:p>
        </p:txBody>
      </p:sp>
      <p:sp>
        <p:nvSpPr>
          <p:cNvPr id="10" name="Rounded Rectangle 9"/>
          <p:cNvSpPr/>
          <p:nvPr/>
        </p:nvSpPr>
        <p:spPr>
          <a:xfrm>
            <a:off x="640080" y="4023360"/>
            <a:ext cx="5303520" cy="2011680"/>
          </a:xfrm>
          <a:prstGeom prst="roundRect">
            <a:avLst>
              <a:gd name="adj" fmla="val 8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4160520"/>
            <a:ext cx="4937759" cy="457200"/>
          </a:xfrm>
          <a:prstGeom prst="rect">
            <a:avLst/>
          </a:prstGeom>
          <a:noFill/>
        </p:spPr>
        <p:txBody>
          <a:bodyPr wrap="square" anchor="t" lIns="45720" rIns="45720" tIns="27432" bIns="27432">
            <a:spAutoFit/>
          </a:bodyPr>
          <a:lstStyle/>
          <a:p>
            <a:pPr algn="l"/>
            <a:r>
              <a:rPr sz="2000" b="1">
                <a:solidFill>
                  <a:srgbClr val="F2C14E"/>
                </a:solidFill>
                <a:latin typeface="Calibri"/>
              </a:rPr>
              <a:t>Packet loss</a:t>
            </a:r>
          </a:p>
        </p:txBody>
      </p:sp>
      <p:sp>
        <p:nvSpPr>
          <p:cNvPr id="12" name="TextBox 11"/>
          <p:cNvSpPr txBox="1"/>
          <p:nvPr/>
        </p:nvSpPr>
        <p:spPr>
          <a:xfrm>
            <a:off x="822959" y="4709160"/>
            <a:ext cx="4937759" cy="1188720"/>
          </a:xfrm>
          <a:prstGeom prst="rect">
            <a:avLst/>
          </a:prstGeom>
          <a:noFill/>
        </p:spPr>
        <p:txBody>
          <a:bodyPr wrap="square" anchor="t" lIns="45720" rIns="45720" tIns="27432" bIns="27432">
            <a:spAutoFit/>
          </a:bodyPr>
          <a:lstStyle/>
          <a:p>
            <a:pPr algn="l"/>
            <a:r>
              <a:rPr sz="1900" b="0">
                <a:solidFill>
                  <a:srgbClr val="F1EEFB"/>
                </a:solidFill>
                <a:latin typeface="Calibri"/>
              </a:rPr>
              <a:t>3 pings per cycle. Over the threshold, an alert is raised.</a:t>
            </a:r>
          </a:p>
        </p:txBody>
      </p:sp>
      <p:sp>
        <p:nvSpPr>
          <p:cNvPr id="13" name="Rounded Rectangle 12"/>
          <p:cNvSpPr/>
          <p:nvPr/>
        </p:nvSpPr>
        <p:spPr>
          <a:xfrm>
            <a:off x="6309360" y="1737360"/>
            <a:ext cx="5212080" cy="4297680"/>
          </a:xfrm>
          <a:prstGeom prst="roundRect">
            <a:avLst/>
          </a:prstGeom>
          <a:solidFill>
            <a:srgbClr val="221B45"/>
          </a:solidFill>
          <a:ln w="19050">
            <a:solidFill>
              <a:srgbClr val="F2C1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2011680"/>
            <a:ext cx="5212080" cy="548640"/>
          </a:xfrm>
          <a:prstGeom prst="rect">
            <a:avLst/>
          </a:prstGeom>
          <a:noFill/>
        </p:spPr>
        <p:txBody>
          <a:bodyPr wrap="square" anchor="t" lIns="45720" rIns="45720" tIns="27432" bIns="27432">
            <a:spAutoFit/>
          </a:bodyPr>
          <a:lstStyle/>
          <a:p>
            <a:pPr algn="ctr"/>
            <a:r>
              <a:rPr sz="2000" b="1">
                <a:solidFill>
                  <a:srgbClr val="B4AED0"/>
                </a:solidFill>
                <a:latin typeface="Calibri"/>
              </a:rPr>
              <a:t>Formula</a:t>
            </a:r>
          </a:p>
        </p:txBody>
      </p:sp>
      <p:sp>
        <p:nvSpPr>
          <p:cNvPr id="15" name="TextBox 14"/>
          <p:cNvSpPr txBox="1"/>
          <p:nvPr/>
        </p:nvSpPr>
        <p:spPr>
          <a:xfrm>
            <a:off x="6492240" y="2743200"/>
            <a:ext cx="4846320" cy="2194560"/>
          </a:xfrm>
          <a:prstGeom prst="rect">
            <a:avLst/>
          </a:prstGeom>
          <a:noFill/>
        </p:spPr>
        <p:txBody>
          <a:bodyPr wrap="square" anchor="t" lIns="45720" rIns="45720" tIns="27432" bIns="27432">
            <a:spAutoFit/>
          </a:bodyPr>
          <a:lstStyle/>
          <a:p>
            <a:pPr algn="ctr"/>
            <a:r>
              <a:rPr sz="3000" b="1">
                <a:solidFill>
                  <a:srgbClr val="F2C14E"/>
                </a:solidFill>
                <a:latin typeface="Calibri"/>
              </a:rPr>
              <a:t>Loss % =</a:t>
            </a:r>
          </a:p>
          <a:p>
            <a:pPr algn="ctr">
              <a:spcBef>
                <a:spcPts val="800"/>
              </a:spcBef>
            </a:pPr>
            <a:r>
              <a:rPr sz="3000" b="1">
                <a:solidFill>
                  <a:srgbClr val="F2C14E"/>
                </a:solidFill>
                <a:latin typeface="Calibri"/>
              </a:rPr>
              <a:t>(sent - received)</a:t>
            </a:r>
          </a:p>
          <a:p>
            <a:pPr algn="ctr">
              <a:spcBef>
                <a:spcPts val="800"/>
              </a:spcBef>
            </a:pPr>
            <a:r>
              <a:rPr sz="3000" b="1">
                <a:solidFill>
                  <a:srgbClr val="F2C14E"/>
                </a:solidFill>
                <a:latin typeface="Calibri"/>
              </a:rPr>
              <a:t>/ sent x 100</a:t>
            </a:r>
          </a:p>
        </p:txBody>
      </p:sp>
      <p:sp>
        <p:nvSpPr>
          <p:cNvPr id="16" name="TextBox 15"/>
          <p:cNvSpPr txBox="1"/>
          <p:nvPr/>
        </p:nvSpPr>
        <p:spPr>
          <a:xfrm>
            <a:off x="6492240" y="4937760"/>
            <a:ext cx="4846320" cy="731520"/>
          </a:xfrm>
          <a:prstGeom prst="rect">
            <a:avLst/>
          </a:prstGeom>
          <a:noFill/>
        </p:spPr>
        <p:txBody>
          <a:bodyPr wrap="square" anchor="t" lIns="45720" rIns="45720" tIns="27432" bIns="27432">
            <a:spAutoFit/>
          </a:bodyPr>
          <a:lstStyle/>
          <a:p>
            <a:pPr algn="ctr"/>
            <a:r>
              <a:rPr sz="1800" b="0">
                <a:solidFill>
                  <a:srgbClr val="F1EEFB"/>
                </a:solidFill>
                <a:latin typeface="Calibri"/>
              </a:rPr>
              <a:t>Example: 3 sent, 2 received = 33.3%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0B22"/>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9B8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65760"/>
          </a:xfrm>
          <a:prstGeom prst="rect">
            <a:avLst/>
          </a:prstGeom>
          <a:noFill/>
        </p:spPr>
        <p:txBody>
          <a:bodyPr wrap="square" anchor="t" lIns="45720" rIns="45720" tIns="27432" bIns="27432">
            <a:spAutoFit/>
          </a:bodyPr>
          <a:lstStyle/>
          <a:p>
            <a:pPr algn="l"/>
            <a:r>
              <a:rPr sz="1300" b="1">
                <a:solidFill>
                  <a:srgbClr val="F2C14E"/>
                </a:solidFill>
                <a:latin typeface="Calibri"/>
              </a:rPr>
              <a:t>TRAFFIC</a:t>
            </a:r>
          </a:p>
        </p:txBody>
      </p:sp>
      <p:sp>
        <p:nvSpPr>
          <p:cNvPr id="4" name="TextBox 3"/>
          <p:cNvSpPr txBox="1"/>
          <p:nvPr/>
        </p:nvSpPr>
        <p:spPr>
          <a:xfrm>
            <a:off x="640080" y="640080"/>
            <a:ext cx="10789920" cy="822960"/>
          </a:xfrm>
          <a:prstGeom prst="rect">
            <a:avLst/>
          </a:prstGeom>
          <a:noFill/>
        </p:spPr>
        <p:txBody>
          <a:bodyPr wrap="square" anchor="t" lIns="45720" rIns="45720" tIns="27432" bIns="27432">
            <a:spAutoFit/>
          </a:bodyPr>
          <a:lstStyle/>
          <a:p>
            <a:pPr algn="l"/>
            <a:r>
              <a:rPr sz="3800" b="1">
                <a:solidFill>
                  <a:srgbClr val="F1EEFB"/>
                </a:solidFill>
                <a:latin typeface="Calibri"/>
              </a:rPr>
              <a:t>Bandwidth monitoring</a:t>
            </a:r>
          </a:p>
        </p:txBody>
      </p:sp>
      <p:sp>
        <p:nvSpPr>
          <p:cNvPr id="5" name="TextBox 4"/>
          <p:cNvSpPr txBox="1"/>
          <p:nvPr/>
        </p:nvSpPr>
        <p:spPr>
          <a:xfrm>
            <a:off x="10607040" y="6400800"/>
            <a:ext cx="1280160" cy="274320"/>
          </a:xfrm>
          <a:prstGeom prst="rect">
            <a:avLst/>
          </a:prstGeom>
          <a:noFill/>
        </p:spPr>
        <p:txBody>
          <a:bodyPr wrap="square" anchor="t" lIns="45720" rIns="45720" tIns="27432" bIns="27432">
            <a:spAutoFit/>
          </a:bodyPr>
          <a:lstStyle/>
          <a:p>
            <a:pPr algn="r"/>
            <a:r>
              <a:rPr sz="1100" b="0">
                <a:solidFill>
                  <a:srgbClr val="B4AED0"/>
                </a:solidFill>
                <a:latin typeface="Calibri"/>
              </a:rPr>
              <a:t>13 / 18</a:t>
            </a:r>
          </a:p>
        </p:txBody>
      </p:sp>
      <p:sp>
        <p:nvSpPr>
          <p:cNvPr id="6" name="TextBox 5"/>
          <p:cNvSpPr txBox="1"/>
          <p:nvPr/>
        </p:nvSpPr>
        <p:spPr>
          <a:xfrm>
            <a:off x="640080" y="6400800"/>
            <a:ext cx="7315200" cy="274320"/>
          </a:xfrm>
          <a:prstGeom prst="rect">
            <a:avLst/>
          </a:prstGeom>
          <a:noFill/>
        </p:spPr>
        <p:txBody>
          <a:bodyPr wrap="square" anchor="t" lIns="45720" rIns="45720" tIns="27432" bIns="27432">
            <a:spAutoFit/>
          </a:bodyPr>
          <a:lstStyle/>
          <a:p>
            <a:pPr algn="l"/>
            <a:r>
              <a:rPr sz="1100" b="0">
                <a:solidFill>
                  <a:srgbClr val="B4AED0"/>
                </a:solidFill>
                <a:latin typeface="Calibri"/>
              </a:rPr>
              <a:t>NetWatch | Computer Networks Mini Project</a:t>
            </a:r>
          </a:p>
        </p:txBody>
      </p:sp>
      <p:sp>
        <p:nvSpPr>
          <p:cNvPr id="7" name="Rounded Rectangle 6"/>
          <p:cNvSpPr/>
          <p:nvPr/>
        </p:nvSpPr>
        <p:spPr>
          <a:xfrm>
            <a:off x="640080" y="1737360"/>
            <a:ext cx="10881360" cy="1828800"/>
          </a:xfrm>
          <a:prstGeom prst="roundRect">
            <a:avLst/>
          </a:prstGeom>
          <a:solidFill>
            <a:srgbClr val="221B45"/>
          </a:solidFill>
          <a:ln w="19050">
            <a:solidFill>
              <a:srgbClr val="F2C1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37360"/>
            <a:ext cx="10515600" cy="1828800"/>
          </a:xfrm>
          <a:prstGeom prst="rect">
            <a:avLst/>
          </a:prstGeom>
          <a:noFill/>
        </p:spPr>
        <p:txBody>
          <a:bodyPr wrap="square" anchor="ctr" lIns="45720" rIns="45720" tIns="27432" bIns="27432">
            <a:spAutoFit/>
          </a:bodyPr>
          <a:lstStyle/>
          <a:p>
            <a:pPr algn="ctr"/>
            <a:r>
              <a:rPr sz="3000" b="1">
                <a:solidFill>
                  <a:srgbClr val="F2C14E"/>
                </a:solidFill>
                <a:latin typeface="Calibri"/>
              </a:rPr>
              <a:t>Speed (Mbps) = (change in bytes x 8)</a:t>
            </a:r>
          </a:p>
          <a:p>
            <a:pPr algn="ctr">
              <a:spcBef>
                <a:spcPts val="800"/>
              </a:spcBef>
            </a:pPr>
            <a:r>
              <a:rPr sz="3000" b="1">
                <a:solidFill>
                  <a:srgbClr val="F2C14E"/>
                </a:solidFill>
                <a:latin typeface="Calibri"/>
              </a:rPr>
              <a:t>/ change in seconds / 1,000,000</a:t>
            </a:r>
          </a:p>
        </p:txBody>
      </p:sp>
      <p:sp>
        <p:nvSpPr>
          <p:cNvPr id="9" name="Rounded Rectangle 8"/>
          <p:cNvSpPr/>
          <p:nvPr/>
        </p:nvSpPr>
        <p:spPr>
          <a:xfrm>
            <a:off x="640080" y="3840480"/>
            <a:ext cx="5303520" cy="2103120"/>
          </a:xfrm>
          <a:prstGeom prst="roundRect">
            <a:avLst>
              <a:gd name="adj" fmla="val 8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3977640"/>
            <a:ext cx="4937759" cy="457200"/>
          </a:xfrm>
          <a:prstGeom prst="rect">
            <a:avLst/>
          </a:prstGeom>
          <a:noFill/>
        </p:spPr>
        <p:txBody>
          <a:bodyPr wrap="square" anchor="t" lIns="45720" rIns="45720" tIns="27432" bIns="27432">
            <a:spAutoFit/>
          </a:bodyPr>
          <a:lstStyle/>
          <a:p>
            <a:pPr algn="l"/>
            <a:r>
              <a:rPr sz="2000" b="1">
                <a:solidFill>
                  <a:srgbClr val="F2C14E"/>
                </a:solidFill>
                <a:latin typeface="Calibri"/>
              </a:rPr>
              <a:t>Source</a:t>
            </a:r>
          </a:p>
        </p:txBody>
      </p:sp>
      <p:sp>
        <p:nvSpPr>
          <p:cNvPr id="11" name="TextBox 10"/>
          <p:cNvSpPr txBox="1"/>
          <p:nvPr/>
        </p:nvSpPr>
        <p:spPr>
          <a:xfrm>
            <a:off x="822959" y="4526280"/>
            <a:ext cx="4937759" cy="1280160"/>
          </a:xfrm>
          <a:prstGeom prst="rect">
            <a:avLst/>
          </a:prstGeom>
          <a:noFill/>
        </p:spPr>
        <p:txBody>
          <a:bodyPr wrap="square" anchor="t" lIns="45720" rIns="45720" tIns="27432" bIns="27432">
            <a:spAutoFit/>
          </a:bodyPr>
          <a:lstStyle/>
          <a:p>
            <a:pPr algn="l"/>
            <a:r>
              <a:rPr sz="1900" b="0">
                <a:solidFill>
                  <a:srgbClr val="F1EEFB"/>
                </a:solidFill>
                <a:latin typeface="Calibri"/>
              </a:rPr>
              <a:t>Byte counters of the selected interface (psutil), read every 2 s.</a:t>
            </a:r>
          </a:p>
        </p:txBody>
      </p:sp>
      <p:sp>
        <p:nvSpPr>
          <p:cNvPr id="12" name="Rounded Rectangle 11"/>
          <p:cNvSpPr/>
          <p:nvPr/>
        </p:nvSpPr>
        <p:spPr>
          <a:xfrm>
            <a:off x="6217920" y="3840480"/>
            <a:ext cx="5303520" cy="2103120"/>
          </a:xfrm>
          <a:prstGeom prst="roundRect">
            <a:avLst>
              <a:gd name="adj" fmla="val 8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977640"/>
            <a:ext cx="4937759" cy="457200"/>
          </a:xfrm>
          <a:prstGeom prst="rect">
            <a:avLst/>
          </a:prstGeom>
          <a:noFill/>
        </p:spPr>
        <p:txBody>
          <a:bodyPr wrap="square" anchor="t" lIns="45720" rIns="45720" tIns="27432" bIns="27432">
            <a:spAutoFit/>
          </a:bodyPr>
          <a:lstStyle/>
          <a:p>
            <a:pPr algn="l"/>
            <a:r>
              <a:rPr sz="2000" b="1">
                <a:solidFill>
                  <a:srgbClr val="F2C14E"/>
                </a:solidFill>
                <a:latin typeface="Calibri"/>
              </a:rPr>
              <a:t>Note</a:t>
            </a:r>
          </a:p>
        </p:txBody>
      </p:sp>
      <p:sp>
        <p:nvSpPr>
          <p:cNvPr id="14" name="TextBox 13"/>
          <p:cNvSpPr txBox="1"/>
          <p:nvPr/>
        </p:nvSpPr>
        <p:spPr>
          <a:xfrm>
            <a:off x="6400800" y="4526280"/>
            <a:ext cx="4937759" cy="1280160"/>
          </a:xfrm>
          <a:prstGeom prst="rect">
            <a:avLst/>
          </a:prstGeom>
          <a:noFill/>
        </p:spPr>
        <p:txBody>
          <a:bodyPr wrap="square" anchor="t" lIns="45720" rIns="45720" tIns="27432" bIns="27432">
            <a:spAutoFit/>
          </a:bodyPr>
          <a:lstStyle/>
          <a:p>
            <a:pPr algn="l"/>
            <a:r>
              <a:rPr sz="1900" b="0">
                <a:solidFill>
                  <a:srgbClr val="F1EEFB"/>
                </a:solidFill>
                <a:latin typeface="Calibri"/>
              </a:rPr>
              <a:t>Measured traffic now. Not the maximum internet speed.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0B22"/>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9B8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65760"/>
          </a:xfrm>
          <a:prstGeom prst="rect">
            <a:avLst/>
          </a:prstGeom>
          <a:noFill/>
        </p:spPr>
        <p:txBody>
          <a:bodyPr wrap="square" anchor="t" lIns="45720" rIns="45720" tIns="27432" bIns="27432">
            <a:spAutoFit/>
          </a:bodyPr>
          <a:lstStyle/>
          <a:p>
            <a:pPr algn="l"/>
            <a:r>
              <a:rPr sz="1300" b="1">
                <a:solidFill>
                  <a:srgbClr val="F2C14E"/>
                </a:solidFill>
                <a:latin typeface="Calibri"/>
              </a:rPr>
              <a:t>DIAGNOSTICS</a:t>
            </a:r>
          </a:p>
        </p:txBody>
      </p:sp>
      <p:sp>
        <p:nvSpPr>
          <p:cNvPr id="4" name="TextBox 3"/>
          <p:cNvSpPr txBox="1"/>
          <p:nvPr/>
        </p:nvSpPr>
        <p:spPr>
          <a:xfrm>
            <a:off x="640080" y="640080"/>
            <a:ext cx="10789920" cy="822960"/>
          </a:xfrm>
          <a:prstGeom prst="rect">
            <a:avLst/>
          </a:prstGeom>
          <a:noFill/>
        </p:spPr>
        <p:txBody>
          <a:bodyPr wrap="square" anchor="t" lIns="45720" rIns="45720" tIns="27432" bIns="27432">
            <a:spAutoFit/>
          </a:bodyPr>
          <a:lstStyle/>
          <a:p>
            <a:pPr algn="l"/>
            <a:r>
              <a:rPr sz="3800" b="1">
                <a:solidFill>
                  <a:srgbClr val="F1EEFB"/>
                </a:solidFill>
                <a:latin typeface="Calibri"/>
              </a:rPr>
              <a:t>Network Troubleshooter</a:t>
            </a:r>
          </a:p>
        </p:txBody>
      </p:sp>
      <p:sp>
        <p:nvSpPr>
          <p:cNvPr id="5" name="TextBox 4"/>
          <p:cNvSpPr txBox="1"/>
          <p:nvPr/>
        </p:nvSpPr>
        <p:spPr>
          <a:xfrm>
            <a:off x="10607040" y="6400800"/>
            <a:ext cx="1280160" cy="274320"/>
          </a:xfrm>
          <a:prstGeom prst="rect">
            <a:avLst/>
          </a:prstGeom>
          <a:noFill/>
        </p:spPr>
        <p:txBody>
          <a:bodyPr wrap="square" anchor="t" lIns="45720" rIns="45720" tIns="27432" bIns="27432">
            <a:spAutoFit/>
          </a:bodyPr>
          <a:lstStyle/>
          <a:p>
            <a:pPr algn="r"/>
            <a:r>
              <a:rPr sz="1100" b="0">
                <a:solidFill>
                  <a:srgbClr val="B4AED0"/>
                </a:solidFill>
                <a:latin typeface="Calibri"/>
              </a:rPr>
              <a:t>14 / 18</a:t>
            </a:r>
          </a:p>
        </p:txBody>
      </p:sp>
      <p:sp>
        <p:nvSpPr>
          <p:cNvPr id="6" name="TextBox 5"/>
          <p:cNvSpPr txBox="1"/>
          <p:nvPr/>
        </p:nvSpPr>
        <p:spPr>
          <a:xfrm>
            <a:off x="640080" y="6400800"/>
            <a:ext cx="7315200" cy="274320"/>
          </a:xfrm>
          <a:prstGeom prst="rect">
            <a:avLst/>
          </a:prstGeom>
          <a:noFill/>
        </p:spPr>
        <p:txBody>
          <a:bodyPr wrap="square" anchor="t" lIns="45720" rIns="45720" tIns="27432" bIns="27432">
            <a:spAutoFit/>
          </a:bodyPr>
          <a:lstStyle/>
          <a:p>
            <a:pPr algn="l"/>
            <a:r>
              <a:rPr sz="1100" b="0">
                <a:solidFill>
                  <a:srgbClr val="B4AED0"/>
                </a:solidFill>
                <a:latin typeface="Calibri"/>
              </a:rPr>
              <a:t>NetWatch | Computer Networks Mini Project</a:t>
            </a:r>
          </a:p>
        </p:txBody>
      </p:sp>
      <p:sp>
        <p:nvSpPr>
          <p:cNvPr id="7" name="Rounded Rectangle 6"/>
          <p:cNvSpPr/>
          <p:nvPr/>
        </p:nvSpPr>
        <p:spPr>
          <a:xfrm>
            <a:off x="640080" y="1828800"/>
            <a:ext cx="1554480" cy="914400"/>
          </a:xfrm>
          <a:prstGeom prst="roundRect">
            <a:avLst>
              <a:gd name="adj" fmla="val 12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828800"/>
            <a:ext cx="1554480" cy="914400"/>
          </a:xfrm>
          <a:prstGeom prst="rect">
            <a:avLst/>
          </a:prstGeom>
          <a:noFill/>
        </p:spPr>
        <p:txBody>
          <a:bodyPr wrap="square" anchor="ctr" lIns="45720" rIns="45720" tIns="27432" bIns="27432">
            <a:spAutoFit/>
          </a:bodyPr>
          <a:lstStyle/>
          <a:p>
            <a:pPr algn="ctr"/>
            <a:r>
              <a:rPr sz="1600" b="1">
                <a:solidFill>
                  <a:srgbClr val="F1EEFB"/>
                </a:solidFill>
                <a:latin typeface="Calibri"/>
              </a:rPr>
              <a:t>Interface</a:t>
            </a:r>
          </a:p>
        </p:txBody>
      </p:sp>
      <p:cxnSp>
        <p:nvCxnSpPr>
          <p:cNvPr id="9" name="Connector 8"/>
          <p:cNvCxnSpPr/>
          <p:nvPr/>
        </p:nvCxnSpPr>
        <p:spPr>
          <a:xfrm>
            <a:off x="2194560" y="2286000"/>
            <a:ext cx="292608" cy="0"/>
          </a:xfrm>
          <a:prstGeom prst="line">
            <a:avLst/>
          </a:prstGeom>
          <a:ln w="31750">
            <a:solidFill>
              <a:srgbClr val="9B87F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487168" y="1828800"/>
            <a:ext cx="1554480" cy="914400"/>
          </a:xfrm>
          <a:prstGeom prst="roundRect">
            <a:avLst>
              <a:gd name="adj" fmla="val 12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87168" y="1828800"/>
            <a:ext cx="1554480" cy="914400"/>
          </a:xfrm>
          <a:prstGeom prst="rect">
            <a:avLst/>
          </a:prstGeom>
          <a:noFill/>
        </p:spPr>
        <p:txBody>
          <a:bodyPr wrap="square" anchor="ctr" lIns="45720" rIns="45720" tIns="27432" bIns="27432">
            <a:spAutoFit/>
          </a:bodyPr>
          <a:lstStyle/>
          <a:p>
            <a:pPr algn="ctr"/>
            <a:r>
              <a:rPr sz="1600" b="1">
                <a:solidFill>
                  <a:srgbClr val="F1EEFB"/>
                </a:solidFill>
                <a:latin typeface="Calibri"/>
              </a:rPr>
              <a:t>Gateway</a:t>
            </a:r>
          </a:p>
        </p:txBody>
      </p:sp>
      <p:cxnSp>
        <p:nvCxnSpPr>
          <p:cNvPr id="12" name="Connector 11"/>
          <p:cNvCxnSpPr/>
          <p:nvPr/>
        </p:nvCxnSpPr>
        <p:spPr>
          <a:xfrm>
            <a:off x="4041648" y="2286000"/>
            <a:ext cx="292608" cy="0"/>
          </a:xfrm>
          <a:prstGeom prst="line">
            <a:avLst/>
          </a:prstGeom>
          <a:ln w="31750">
            <a:solidFill>
              <a:srgbClr val="9B87F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34256" y="1828800"/>
            <a:ext cx="1554480" cy="914400"/>
          </a:xfrm>
          <a:prstGeom prst="roundRect">
            <a:avLst>
              <a:gd name="adj" fmla="val 12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34256" y="1828800"/>
            <a:ext cx="1554480" cy="914400"/>
          </a:xfrm>
          <a:prstGeom prst="rect">
            <a:avLst/>
          </a:prstGeom>
          <a:noFill/>
        </p:spPr>
        <p:txBody>
          <a:bodyPr wrap="square" anchor="ctr" lIns="45720" rIns="45720" tIns="27432" bIns="27432">
            <a:spAutoFit/>
          </a:bodyPr>
          <a:lstStyle/>
          <a:p>
            <a:pPr algn="ctr"/>
            <a:r>
              <a:rPr sz="1600" b="1">
                <a:solidFill>
                  <a:srgbClr val="F1EEFB"/>
                </a:solidFill>
                <a:latin typeface="Calibri"/>
              </a:rPr>
              <a:t>Gateway ping</a:t>
            </a:r>
          </a:p>
        </p:txBody>
      </p:sp>
      <p:cxnSp>
        <p:nvCxnSpPr>
          <p:cNvPr id="15" name="Connector 14"/>
          <p:cNvCxnSpPr/>
          <p:nvPr/>
        </p:nvCxnSpPr>
        <p:spPr>
          <a:xfrm>
            <a:off x="5888736" y="2286000"/>
            <a:ext cx="292608" cy="0"/>
          </a:xfrm>
          <a:prstGeom prst="line">
            <a:avLst/>
          </a:prstGeom>
          <a:ln w="31750">
            <a:solidFill>
              <a:srgbClr val="9B87F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181344" y="1828800"/>
            <a:ext cx="1554480" cy="914400"/>
          </a:xfrm>
          <a:prstGeom prst="roundRect">
            <a:avLst>
              <a:gd name="adj" fmla="val 12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81344" y="1828800"/>
            <a:ext cx="1554480" cy="914400"/>
          </a:xfrm>
          <a:prstGeom prst="rect">
            <a:avLst/>
          </a:prstGeom>
          <a:noFill/>
        </p:spPr>
        <p:txBody>
          <a:bodyPr wrap="square" anchor="ctr" lIns="45720" rIns="45720" tIns="27432" bIns="27432">
            <a:spAutoFit/>
          </a:bodyPr>
          <a:lstStyle/>
          <a:p>
            <a:pPr algn="ctr"/>
            <a:r>
              <a:rPr sz="1600" b="1">
                <a:solidFill>
                  <a:srgbClr val="F1EEFB"/>
                </a:solidFill>
                <a:latin typeface="Calibri"/>
              </a:rPr>
              <a:t>DNS</a:t>
            </a:r>
          </a:p>
        </p:txBody>
      </p:sp>
      <p:cxnSp>
        <p:nvCxnSpPr>
          <p:cNvPr id="18" name="Connector 17"/>
          <p:cNvCxnSpPr/>
          <p:nvPr/>
        </p:nvCxnSpPr>
        <p:spPr>
          <a:xfrm>
            <a:off x="7735823" y="2286000"/>
            <a:ext cx="292608" cy="0"/>
          </a:xfrm>
          <a:prstGeom prst="line">
            <a:avLst/>
          </a:prstGeom>
          <a:ln w="31750">
            <a:solidFill>
              <a:srgbClr val="9B87F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028431" y="1828800"/>
            <a:ext cx="1554480" cy="914400"/>
          </a:xfrm>
          <a:prstGeom prst="roundRect">
            <a:avLst>
              <a:gd name="adj" fmla="val 12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28431" y="1828800"/>
            <a:ext cx="1554480" cy="914400"/>
          </a:xfrm>
          <a:prstGeom prst="rect">
            <a:avLst/>
          </a:prstGeom>
          <a:noFill/>
        </p:spPr>
        <p:txBody>
          <a:bodyPr wrap="square" anchor="ctr" lIns="45720" rIns="45720" tIns="27432" bIns="27432">
            <a:spAutoFit/>
          </a:bodyPr>
          <a:lstStyle/>
          <a:p>
            <a:pPr algn="ctr"/>
            <a:r>
              <a:rPr sz="1600" b="1">
                <a:solidFill>
                  <a:srgbClr val="F1EEFB"/>
                </a:solidFill>
                <a:latin typeface="Calibri"/>
              </a:rPr>
              <a:t>Internet</a:t>
            </a:r>
          </a:p>
        </p:txBody>
      </p:sp>
      <p:cxnSp>
        <p:nvCxnSpPr>
          <p:cNvPr id="21" name="Connector 20"/>
          <p:cNvCxnSpPr/>
          <p:nvPr/>
        </p:nvCxnSpPr>
        <p:spPr>
          <a:xfrm>
            <a:off x="9582911" y="2286000"/>
            <a:ext cx="292608" cy="0"/>
          </a:xfrm>
          <a:prstGeom prst="line">
            <a:avLst/>
          </a:prstGeom>
          <a:ln w="31750">
            <a:solidFill>
              <a:srgbClr val="9B87F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875519" y="1828800"/>
            <a:ext cx="1554480" cy="914400"/>
          </a:xfrm>
          <a:prstGeom prst="roundRect">
            <a:avLst>
              <a:gd name="adj" fmla="val 12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75519" y="1828800"/>
            <a:ext cx="1554480" cy="914400"/>
          </a:xfrm>
          <a:prstGeom prst="rect">
            <a:avLst/>
          </a:prstGeom>
          <a:noFill/>
        </p:spPr>
        <p:txBody>
          <a:bodyPr wrap="square" anchor="ctr" lIns="45720" rIns="45720" tIns="27432" bIns="27432">
            <a:spAutoFit/>
          </a:bodyPr>
          <a:lstStyle/>
          <a:p>
            <a:pPr algn="ctr"/>
            <a:r>
              <a:rPr sz="1600" b="1">
                <a:solidFill>
                  <a:srgbClr val="F1EEFB"/>
                </a:solidFill>
                <a:latin typeface="Calibri"/>
              </a:rPr>
              <a:t>Services</a:t>
            </a:r>
          </a:p>
        </p:txBody>
      </p:sp>
      <p:sp>
        <p:nvSpPr>
          <p:cNvPr id="24" name="Rounded Rectangle 23"/>
          <p:cNvSpPr/>
          <p:nvPr/>
        </p:nvSpPr>
        <p:spPr>
          <a:xfrm>
            <a:off x="640080" y="3200400"/>
            <a:ext cx="5303520" cy="2743200"/>
          </a:xfrm>
          <a:prstGeom prst="roundRect">
            <a:avLst>
              <a:gd name="adj" fmla="val 8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59" y="3337560"/>
            <a:ext cx="4937759" cy="457200"/>
          </a:xfrm>
          <a:prstGeom prst="rect">
            <a:avLst/>
          </a:prstGeom>
          <a:noFill/>
        </p:spPr>
        <p:txBody>
          <a:bodyPr wrap="square" anchor="t" lIns="45720" rIns="45720" tIns="27432" bIns="27432">
            <a:spAutoFit/>
          </a:bodyPr>
          <a:lstStyle/>
          <a:p>
            <a:pPr algn="l"/>
            <a:r>
              <a:rPr sz="2000" b="1">
                <a:solidFill>
                  <a:srgbClr val="F2C14E"/>
                </a:solidFill>
                <a:latin typeface="Calibri"/>
              </a:rPr>
              <a:t>Result</a:t>
            </a:r>
          </a:p>
        </p:txBody>
      </p:sp>
      <p:sp>
        <p:nvSpPr>
          <p:cNvPr id="26" name="TextBox 25"/>
          <p:cNvSpPr txBox="1"/>
          <p:nvPr/>
        </p:nvSpPr>
        <p:spPr>
          <a:xfrm>
            <a:off x="822959" y="3886200"/>
            <a:ext cx="4937759" cy="1920240"/>
          </a:xfrm>
          <a:prstGeom prst="rect">
            <a:avLst/>
          </a:prstGeom>
          <a:noFill/>
        </p:spPr>
        <p:txBody>
          <a:bodyPr wrap="square" anchor="t" lIns="45720" rIns="45720" tIns="27432" bIns="27432">
            <a:spAutoFit/>
          </a:bodyPr>
          <a:lstStyle/>
          <a:p>
            <a:pPr algn="l"/>
            <a:r>
              <a:rPr sz="2000" b="0">
                <a:solidFill>
                  <a:srgbClr val="F1EEFB"/>
                </a:solidFill>
                <a:latin typeface="Calibri"/>
              </a:rPr>
              <a:t>PASS or FAIL for each test, then an overall message.</a:t>
            </a:r>
          </a:p>
        </p:txBody>
      </p:sp>
      <p:sp>
        <p:nvSpPr>
          <p:cNvPr id="27" name="Rounded Rectangle 26"/>
          <p:cNvSpPr/>
          <p:nvPr/>
        </p:nvSpPr>
        <p:spPr>
          <a:xfrm>
            <a:off x="6217920" y="3200400"/>
            <a:ext cx="5303520" cy="2743200"/>
          </a:xfrm>
          <a:prstGeom prst="roundRect">
            <a:avLst>
              <a:gd name="adj" fmla="val 8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3337560"/>
            <a:ext cx="4937759" cy="457200"/>
          </a:xfrm>
          <a:prstGeom prst="rect">
            <a:avLst/>
          </a:prstGeom>
          <a:noFill/>
        </p:spPr>
        <p:txBody>
          <a:bodyPr wrap="square" anchor="t" lIns="45720" rIns="45720" tIns="27432" bIns="27432">
            <a:spAutoFit/>
          </a:bodyPr>
          <a:lstStyle/>
          <a:p>
            <a:pPr algn="l"/>
            <a:r>
              <a:rPr sz="2000" b="1">
                <a:solidFill>
                  <a:srgbClr val="F2C14E"/>
                </a:solidFill>
                <a:latin typeface="Calibri"/>
              </a:rPr>
              <a:t>On FAIL</a:t>
            </a:r>
          </a:p>
        </p:txBody>
      </p:sp>
      <p:sp>
        <p:nvSpPr>
          <p:cNvPr id="29" name="TextBox 28"/>
          <p:cNvSpPr txBox="1"/>
          <p:nvPr/>
        </p:nvSpPr>
        <p:spPr>
          <a:xfrm>
            <a:off x="6400800" y="3886200"/>
            <a:ext cx="4937759" cy="1920240"/>
          </a:xfrm>
          <a:prstGeom prst="rect">
            <a:avLst/>
          </a:prstGeom>
          <a:noFill/>
        </p:spPr>
        <p:txBody>
          <a:bodyPr wrap="square" anchor="t" lIns="45720" rIns="45720" tIns="27432" bIns="27432">
            <a:spAutoFit/>
          </a:bodyPr>
          <a:lstStyle/>
          <a:p>
            <a:pPr algn="l"/>
            <a:r>
              <a:rPr sz="2000" b="0">
                <a:solidFill>
                  <a:srgbClr val="F1EEFB"/>
                </a:solidFill>
                <a:latin typeface="Calibri"/>
              </a:rPr>
              <a:t>Possible cause + suggested step. It never claims the exact root cause.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0B22"/>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9B8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65760"/>
          </a:xfrm>
          <a:prstGeom prst="rect">
            <a:avLst/>
          </a:prstGeom>
          <a:noFill/>
        </p:spPr>
        <p:txBody>
          <a:bodyPr wrap="square" anchor="t" lIns="45720" rIns="45720" tIns="27432" bIns="27432">
            <a:spAutoFit/>
          </a:bodyPr>
          <a:lstStyle/>
          <a:p>
            <a:pPr algn="l"/>
            <a:r>
              <a:rPr sz="1300" b="1">
                <a:solidFill>
                  <a:srgbClr val="F2C14E"/>
                </a:solidFill>
                <a:latin typeface="Calibri"/>
              </a:rPr>
              <a:t>ADD YOUR OWN</a:t>
            </a:r>
          </a:p>
        </p:txBody>
      </p:sp>
      <p:sp>
        <p:nvSpPr>
          <p:cNvPr id="4" name="TextBox 3"/>
          <p:cNvSpPr txBox="1"/>
          <p:nvPr/>
        </p:nvSpPr>
        <p:spPr>
          <a:xfrm>
            <a:off x="640080" y="640080"/>
            <a:ext cx="10789920" cy="822960"/>
          </a:xfrm>
          <a:prstGeom prst="rect">
            <a:avLst/>
          </a:prstGeom>
          <a:noFill/>
        </p:spPr>
        <p:txBody>
          <a:bodyPr wrap="square" anchor="t" lIns="45720" rIns="45720" tIns="27432" bIns="27432">
            <a:spAutoFit/>
          </a:bodyPr>
          <a:lstStyle/>
          <a:p>
            <a:pPr algn="l"/>
            <a:r>
              <a:rPr sz="3800" b="1">
                <a:solidFill>
                  <a:srgbClr val="F1EEFB"/>
                </a:solidFill>
                <a:latin typeface="Calibri"/>
              </a:rPr>
              <a:t>Dashboard screenshots</a:t>
            </a:r>
          </a:p>
        </p:txBody>
      </p:sp>
      <p:sp>
        <p:nvSpPr>
          <p:cNvPr id="5" name="TextBox 4"/>
          <p:cNvSpPr txBox="1"/>
          <p:nvPr/>
        </p:nvSpPr>
        <p:spPr>
          <a:xfrm>
            <a:off x="10607040" y="6400800"/>
            <a:ext cx="1280160" cy="274320"/>
          </a:xfrm>
          <a:prstGeom prst="rect">
            <a:avLst/>
          </a:prstGeom>
          <a:noFill/>
        </p:spPr>
        <p:txBody>
          <a:bodyPr wrap="square" anchor="t" lIns="45720" rIns="45720" tIns="27432" bIns="27432">
            <a:spAutoFit/>
          </a:bodyPr>
          <a:lstStyle/>
          <a:p>
            <a:pPr algn="r"/>
            <a:r>
              <a:rPr sz="1100" b="0">
                <a:solidFill>
                  <a:srgbClr val="B4AED0"/>
                </a:solidFill>
                <a:latin typeface="Calibri"/>
              </a:rPr>
              <a:t>15 / 18</a:t>
            </a:r>
          </a:p>
        </p:txBody>
      </p:sp>
      <p:sp>
        <p:nvSpPr>
          <p:cNvPr id="6" name="TextBox 5"/>
          <p:cNvSpPr txBox="1"/>
          <p:nvPr/>
        </p:nvSpPr>
        <p:spPr>
          <a:xfrm>
            <a:off x="640080" y="6400800"/>
            <a:ext cx="7315200" cy="274320"/>
          </a:xfrm>
          <a:prstGeom prst="rect">
            <a:avLst/>
          </a:prstGeom>
          <a:noFill/>
        </p:spPr>
        <p:txBody>
          <a:bodyPr wrap="square" anchor="t" lIns="45720" rIns="45720" tIns="27432" bIns="27432">
            <a:spAutoFit/>
          </a:bodyPr>
          <a:lstStyle/>
          <a:p>
            <a:pPr algn="l"/>
            <a:r>
              <a:rPr sz="1100" b="0">
                <a:solidFill>
                  <a:srgbClr val="B4AED0"/>
                </a:solidFill>
                <a:latin typeface="Calibri"/>
              </a:rPr>
              <a:t>NetWatch | Computer Networks Mini Project</a:t>
            </a:r>
          </a:p>
        </p:txBody>
      </p:sp>
      <p:sp>
        <p:nvSpPr>
          <p:cNvPr id="7" name="Rounded Rectangle 6"/>
          <p:cNvSpPr/>
          <p:nvPr/>
        </p:nvSpPr>
        <p:spPr>
          <a:xfrm>
            <a:off x="640080" y="1645920"/>
            <a:ext cx="5303520" cy="2148840"/>
          </a:xfrm>
          <a:prstGeom prst="roundRect">
            <a:avLst/>
          </a:prstGeom>
          <a:solidFill>
            <a:srgbClr val="0F0B22"/>
          </a:solidFill>
          <a:ln w="19050">
            <a:solidFill>
              <a:srgbClr val="9B87F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45920"/>
            <a:ext cx="5303520" cy="2148840"/>
          </a:xfrm>
          <a:prstGeom prst="rect">
            <a:avLst/>
          </a:prstGeom>
          <a:noFill/>
        </p:spPr>
        <p:txBody>
          <a:bodyPr wrap="square" anchor="ctr" lIns="45720" rIns="45720" tIns="27432" bIns="27432">
            <a:spAutoFit/>
          </a:bodyPr>
          <a:lstStyle/>
          <a:p>
            <a:pPr algn="ctr"/>
            <a:r>
              <a:rPr sz="2000" b="0">
                <a:solidFill>
                  <a:srgbClr val="B4AED0"/>
                </a:solidFill>
                <a:latin typeface="Calibri"/>
              </a:rPr>
              <a:t>Dashboard</a:t>
            </a:r>
          </a:p>
          <a:p>
            <a:pPr algn="ctr">
              <a:spcBef>
                <a:spcPts val="800"/>
              </a:spcBef>
            </a:pPr>
            <a:r>
              <a:rPr sz="2000" b="0">
                <a:solidFill>
                  <a:srgbClr val="B4AED0"/>
                </a:solidFill>
                <a:latin typeface="Calibri"/>
              </a:rPr>
              <a:t>[Insert your screenshot here]</a:t>
            </a:r>
          </a:p>
        </p:txBody>
      </p:sp>
      <p:sp>
        <p:nvSpPr>
          <p:cNvPr id="9" name="Rounded Rectangle 8"/>
          <p:cNvSpPr/>
          <p:nvPr/>
        </p:nvSpPr>
        <p:spPr>
          <a:xfrm>
            <a:off x="6217920" y="1645920"/>
            <a:ext cx="5303520" cy="2148840"/>
          </a:xfrm>
          <a:prstGeom prst="roundRect">
            <a:avLst/>
          </a:prstGeom>
          <a:solidFill>
            <a:srgbClr val="0F0B22"/>
          </a:solidFill>
          <a:ln w="19050">
            <a:solidFill>
              <a:srgbClr val="9B87F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1645920"/>
            <a:ext cx="5303520" cy="2148840"/>
          </a:xfrm>
          <a:prstGeom prst="rect">
            <a:avLst/>
          </a:prstGeom>
          <a:noFill/>
        </p:spPr>
        <p:txBody>
          <a:bodyPr wrap="square" anchor="ctr" lIns="45720" rIns="45720" tIns="27432" bIns="27432">
            <a:spAutoFit/>
          </a:bodyPr>
          <a:lstStyle/>
          <a:p>
            <a:pPr algn="ctr"/>
            <a:r>
              <a:rPr sz="2000" b="0">
                <a:solidFill>
                  <a:srgbClr val="B4AED0"/>
                </a:solidFill>
                <a:latin typeface="Calibri"/>
              </a:rPr>
              <a:t>Latency graph</a:t>
            </a:r>
          </a:p>
          <a:p>
            <a:pPr algn="ctr">
              <a:spcBef>
                <a:spcPts val="800"/>
              </a:spcBef>
            </a:pPr>
            <a:r>
              <a:rPr sz="2000" b="0">
                <a:solidFill>
                  <a:srgbClr val="B4AED0"/>
                </a:solidFill>
                <a:latin typeface="Calibri"/>
              </a:rPr>
              <a:t>[Insert your screenshot here]</a:t>
            </a:r>
          </a:p>
        </p:txBody>
      </p:sp>
      <p:sp>
        <p:nvSpPr>
          <p:cNvPr id="11" name="Rounded Rectangle 10"/>
          <p:cNvSpPr/>
          <p:nvPr/>
        </p:nvSpPr>
        <p:spPr>
          <a:xfrm>
            <a:off x="640080" y="4023360"/>
            <a:ext cx="5303520" cy="2148840"/>
          </a:xfrm>
          <a:prstGeom prst="roundRect">
            <a:avLst/>
          </a:prstGeom>
          <a:solidFill>
            <a:srgbClr val="0F0B22"/>
          </a:solidFill>
          <a:ln w="19050">
            <a:solidFill>
              <a:srgbClr val="9B87F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023360"/>
            <a:ext cx="5303520" cy="2148840"/>
          </a:xfrm>
          <a:prstGeom prst="rect">
            <a:avLst/>
          </a:prstGeom>
          <a:noFill/>
        </p:spPr>
        <p:txBody>
          <a:bodyPr wrap="square" anchor="ctr" lIns="45720" rIns="45720" tIns="27432" bIns="27432">
            <a:spAutoFit/>
          </a:bodyPr>
          <a:lstStyle/>
          <a:p>
            <a:pPr algn="ctr"/>
            <a:r>
              <a:rPr sz="2000" b="0">
                <a:solidFill>
                  <a:srgbClr val="B4AED0"/>
                </a:solidFill>
                <a:latin typeface="Calibri"/>
              </a:rPr>
              <a:t>Service monitoring</a:t>
            </a:r>
          </a:p>
          <a:p>
            <a:pPr algn="ctr">
              <a:spcBef>
                <a:spcPts val="800"/>
              </a:spcBef>
            </a:pPr>
            <a:r>
              <a:rPr sz="2000" b="0">
                <a:solidFill>
                  <a:srgbClr val="B4AED0"/>
                </a:solidFill>
                <a:latin typeface="Calibri"/>
              </a:rPr>
              <a:t>[Insert your screenshot here]</a:t>
            </a:r>
          </a:p>
        </p:txBody>
      </p:sp>
      <p:sp>
        <p:nvSpPr>
          <p:cNvPr id="13" name="Rounded Rectangle 12"/>
          <p:cNvSpPr/>
          <p:nvPr/>
        </p:nvSpPr>
        <p:spPr>
          <a:xfrm>
            <a:off x="6217920" y="4023360"/>
            <a:ext cx="5303520" cy="2148840"/>
          </a:xfrm>
          <a:prstGeom prst="roundRect">
            <a:avLst/>
          </a:prstGeom>
          <a:solidFill>
            <a:srgbClr val="0F0B22"/>
          </a:solidFill>
          <a:ln w="19050">
            <a:solidFill>
              <a:srgbClr val="9B87F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4023360"/>
            <a:ext cx="5303520" cy="2148840"/>
          </a:xfrm>
          <a:prstGeom prst="rect">
            <a:avLst/>
          </a:prstGeom>
          <a:noFill/>
        </p:spPr>
        <p:txBody>
          <a:bodyPr wrap="square" anchor="ctr" lIns="45720" rIns="45720" tIns="27432" bIns="27432">
            <a:spAutoFit/>
          </a:bodyPr>
          <a:lstStyle/>
          <a:p>
            <a:pPr algn="ctr"/>
            <a:r>
              <a:rPr sz="2000" b="0">
                <a:solidFill>
                  <a:srgbClr val="B4AED0"/>
                </a:solidFill>
                <a:latin typeface="Calibri"/>
              </a:rPr>
              <a:t>Troubleshooter</a:t>
            </a:r>
          </a:p>
          <a:p>
            <a:pPr algn="ctr">
              <a:spcBef>
                <a:spcPts val="800"/>
              </a:spcBef>
            </a:pPr>
            <a:r>
              <a:rPr sz="2000" b="0">
                <a:solidFill>
                  <a:srgbClr val="B4AED0"/>
                </a:solidFill>
                <a:latin typeface="Calibri"/>
              </a:rPr>
              <a:t>[Insert your screenshot here]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0B22"/>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9B8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65760"/>
          </a:xfrm>
          <a:prstGeom prst="rect">
            <a:avLst/>
          </a:prstGeom>
          <a:noFill/>
        </p:spPr>
        <p:txBody>
          <a:bodyPr wrap="square" anchor="t" lIns="45720" rIns="45720" tIns="27432" bIns="27432">
            <a:spAutoFit/>
          </a:bodyPr>
          <a:lstStyle/>
          <a:p>
            <a:pPr algn="l"/>
            <a:r>
              <a:rPr sz="1300" b="1">
                <a:solidFill>
                  <a:srgbClr val="F2C14E"/>
                </a:solidFill>
                <a:latin typeface="Calibri"/>
              </a:rPr>
              <a:t>VERIFICATION</a:t>
            </a:r>
          </a:p>
        </p:txBody>
      </p:sp>
      <p:sp>
        <p:nvSpPr>
          <p:cNvPr id="4" name="TextBox 3"/>
          <p:cNvSpPr txBox="1"/>
          <p:nvPr/>
        </p:nvSpPr>
        <p:spPr>
          <a:xfrm>
            <a:off x="640080" y="640080"/>
            <a:ext cx="10789920" cy="822960"/>
          </a:xfrm>
          <a:prstGeom prst="rect">
            <a:avLst/>
          </a:prstGeom>
          <a:noFill/>
        </p:spPr>
        <p:txBody>
          <a:bodyPr wrap="square" anchor="t" lIns="45720" rIns="45720" tIns="27432" bIns="27432">
            <a:spAutoFit/>
          </a:bodyPr>
          <a:lstStyle/>
          <a:p>
            <a:pPr algn="l"/>
            <a:r>
              <a:rPr sz="3800" b="1">
                <a:solidFill>
                  <a:srgbClr val="F1EEFB"/>
                </a:solidFill>
                <a:latin typeface="Calibri"/>
              </a:rPr>
              <a:t>Testing</a:t>
            </a:r>
          </a:p>
        </p:txBody>
      </p:sp>
      <p:sp>
        <p:nvSpPr>
          <p:cNvPr id="5" name="TextBox 4"/>
          <p:cNvSpPr txBox="1"/>
          <p:nvPr/>
        </p:nvSpPr>
        <p:spPr>
          <a:xfrm>
            <a:off x="10607040" y="6400800"/>
            <a:ext cx="1280160" cy="274320"/>
          </a:xfrm>
          <a:prstGeom prst="rect">
            <a:avLst/>
          </a:prstGeom>
          <a:noFill/>
        </p:spPr>
        <p:txBody>
          <a:bodyPr wrap="square" anchor="t" lIns="45720" rIns="45720" tIns="27432" bIns="27432">
            <a:spAutoFit/>
          </a:bodyPr>
          <a:lstStyle/>
          <a:p>
            <a:pPr algn="r"/>
            <a:r>
              <a:rPr sz="1100" b="0">
                <a:solidFill>
                  <a:srgbClr val="B4AED0"/>
                </a:solidFill>
                <a:latin typeface="Calibri"/>
              </a:rPr>
              <a:t>16 / 18</a:t>
            </a:r>
          </a:p>
        </p:txBody>
      </p:sp>
      <p:sp>
        <p:nvSpPr>
          <p:cNvPr id="6" name="TextBox 5"/>
          <p:cNvSpPr txBox="1"/>
          <p:nvPr/>
        </p:nvSpPr>
        <p:spPr>
          <a:xfrm>
            <a:off x="640080" y="6400800"/>
            <a:ext cx="7315200" cy="274320"/>
          </a:xfrm>
          <a:prstGeom prst="rect">
            <a:avLst/>
          </a:prstGeom>
          <a:noFill/>
        </p:spPr>
        <p:txBody>
          <a:bodyPr wrap="square" anchor="t" lIns="45720" rIns="45720" tIns="27432" bIns="27432">
            <a:spAutoFit/>
          </a:bodyPr>
          <a:lstStyle/>
          <a:p>
            <a:pPr algn="l"/>
            <a:r>
              <a:rPr sz="1100" b="0">
                <a:solidFill>
                  <a:srgbClr val="B4AED0"/>
                </a:solidFill>
                <a:latin typeface="Calibri"/>
              </a:rPr>
              <a:t>NetWatch | Computer Networks Mini Project</a:t>
            </a:r>
          </a:p>
        </p:txBody>
      </p:sp>
      <p:sp>
        <p:nvSpPr>
          <p:cNvPr id="7" name="Rounded Rectangle 6"/>
          <p:cNvSpPr/>
          <p:nvPr/>
        </p:nvSpPr>
        <p:spPr>
          <a:xfrm>
            <a:off x="640080" y="1737360"/>
            <a:ext cx="3474720" cy="4023360"/>
          </a:xfrm>
          <a:prstGeom prst="roundRect">
            <a:avLst>
              <a:gd name="adj" fmla="val 8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874519"/>
            <a:ext cx="3108960" cy="457200"/>
          </a:xfrm>
          <a:prstGeom prst="rect">
            <a:avLst/>
          </a:prstGeom>
          <a:noFill/>
        </p:spPr>
        <p:txBody>
          <a:bodyPr wrap="square" anchor="t" lIns="45720" rIns="45720" tIns="27432" bIns="27432">
            <a:spAutoFit/>
          </a:bodyPr>
          <a:lstStyle/>
          <a:p>
            <a:pPr algn="l"/>
            <a:r>
              <a:rPr sz="2000" b="1">
                <a:solidFill>
                  <a:srgbClr val="F2C14E"/>
                </a:solidFill>
                <a:latin typeface="Calibri"/>
              </a:rPr>
              <a:t>Unit tests</a:t>
            </a:r>
          </a:p>
        </p:txBody>
      </p:sp>
      <p:sp>
        <p:nvSpPr>
          <p:cNvPr id="9" name="TextBox 8"/>
          <p:cNvSpPr txBox="1"/>
          <p:nvPr/>
        </p:nvSpPr>
        <p:spPr>
          <a:xfrm>
            <a:off x="822959" y="2423160"/>
            <a:ext cx="3108960" cy="3200400"/>
          </a:xfrm>
          <a:prstGeom prst="rect">
            <a:avLst/>
          </a:prstGeom>
          <a:noFill/>
        </p:spPr>
        <p:txBody>
          <a:bodyPr wrap="square" anchor="t" lIns="45720" rIns="45720" tIns="27432" bIns="27432">
            <a:spAutoFit/>
          </a:bodyPr>
          <a:lstStyle/>
          <a:p>
            <a:pPr algn="l"/>
            <a:r>
              <a:rPr sz="1700" b="0">
                <a:solidFill>
                  <a:srgbClr val="F1EEFB"/>
                </a:solidFill>
                <a:latin typeface="Calibri"/>
              </a:rPr>
              <a:t>56 tests: IP, interfaces, gateway parsing, ping, DNS, ports, HTTP, bandwidth, loss, invalid input, timeouts.</a:t>
            </a:r>
          </a:p>
        </p:txBody>
      </p:sp>
      <p:sp>
        <p:nvSpPr>
          <p:cNvPr id="10" name="Rounded Rectangle 9"/>
          <p:cNvSpPr/>
          <p:nvPr/>
        </p:nvSpPr>
        <p:spPr>
          <a:xfrm>
            <a:off x="4389120" y="1737360"/>
            <a:ext cx="3474720" cy="4023360"/>
          </a:xfrm>
          <a:prstGeom prst="roundRect">
            <a:avLst>
              <a:gd name="adj" fmla="val 8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874519"/>
            <a:ext cx="3108960" cy="457200"/>
          </a:xfrm>
          <a:prstGeom prst="rect">
            <a:avLst/>
          </a:prstGeom>
          <a:noFill/>
        </p:spPr>
        <p:txBody>
          <a:bodyPr wrap="square" anchor="t" lIns="45720" rIns="45720" tIns="27432" bIns="27432">
            <a:spAutoFit/>
          </a:bodyPr>
          <a:lstStyle/>
          <a:p>
            <a:pPr algn="l"/>
            <a:r>
              <a:rPr sz="2000" b="1">
                <a:solidFill>
                  <a:srgbClr val="F2C14E"/>
                </a:solidFill>
                <a:latin typeface="Calibri"/>
              </a:rPr>
              <a:t>Live service test</a:t>
            </a:r>
          </a:p>
        </p:txBody>
      </p:sp>
      <p:sp>
        <p:nvSpPr>
          <p:cNvPr id="12" name="TextBox 11"/>
          <p:cNvSpPr txBox="1"/>
          <p:nvPr/>
        </p:nvSpPr>
        <p:spPr>
          <a:xfrm>
            <a:off x="4572000" y="2423160"/>
            <a:ext cx="3108960" cy="3200400"/>
          </a:xfrm>
          <a:prstGeom prst="rect">
            <a:avLst/>
          </a:prstGeom>
          <a:noFill/>
        </p:spPr>
        <p:txBody>
          <a:bodyPr wrap="square" anchor="t" lIns="45720" rIns="45720" tIns="27432" bIns="27432">
            <a:spAutoFit/>
          </a:bodyPr>
          <a:lstStyle/>
          <a:p>
            <a:pPr algn="l"/>
            <a:r>
              <a:rPr sz="1700" b="0">
                <a:solidFill>
                  <a:srgbClr val="F1EEFB"/>
                </a:solidFill>
                <a:latin typeface="Calibri"/>
              </a:rPr>
              <a:t>Service stopped: SERVICE DOWN. Started again: SERVICE RESTORED.</a:t>
            </a:r>
          </a:p>
        </p:txBody>
      </p:sp>
      <p:sp>
        <p:nvSpPr>
          <p:cNvPr id="13" name="Rounded Rectangle 12"/>
          <p:cNvSpPr/>
          <p:nvPr/>
        </p:nvSpPr>
        <p:spPr>
          <a:xfrm>
            <a:off x="8138160" y="1737360"/>
            <a:ext cx="3474720" cy="4023360"/>
          </a:xfrm>
          <a:prstGeom prst="roundRect">
            <a:avLst>
              <a:gd name="adj" fmla="val 8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1874519"/>
            <a:ext cx="3108960" cy="457200"/>
          </a:xfrm>
          <a:prstGeom prst="rect">
            <a:avLst/>
          </a:prstGeom>
          <a:noFill/>
        </p:spPr>
        <p:txBody>
          <a:bodyPr wrap="square" anchor="t" lIns="45720" rIns="45720" tIns="27432" bIns="27432">
            <a:spAutoFit/>
          </a:bodyPr>
          <a:lstStyle/>
          <a:p>
            <a:pPr algn="l"/>
            <a:r>
              <a:rPr sz="2000" b="1">
                <a:solidFill>
                  <a:srgbClr val="F87171"/>
                </a:solidFill>
                <a:latin typeface="Calibri"/>
              </a:rPr>
              <a:t>Windows laptop</a:t>
            </a:r>
          </a:p>
        </p:txBody>
      </p:sp>
      <p:sp>
        <p:nvSpPr>
          <p:cNvPr id="15" name="TextBox 14"/>
          <p:cNvSpPr txBox="1"/>
          <p:nvPr/>
        </p:nvSpPr>
        <p:spPr>
          <a:xfrm>
            <a:off x="8321040" y="2423160"/>
            <a:ext cx="3108960" cy="3200400"/>
          </a:xfrm>
          <a:prstGeom prst="rect">
            <a:avLst/>
          </a:prstGeom>
          <a:noFill/>
        </p:spPr>
        <p:txBody>
          <a:bodyPr wrap="square" anchor="t" lIns="45720" rIns="45720" tIns="27432" bIns="27432">
            <a:spAutoFit/>
          </a:bodyPr>
          <a:lstStyle/>
          <a:p>
            <a:pPr algn="l"/>
            <a:r>
              <a:rPr sz="1700" b="0">
                <a:solidFill>
                  <a:srgbClr val="F1EEFB"/>
                </a:solidFill>
                <a:latin typeface="Calibri"/>
              </a:rPr>
              <a:t>[Add your own results after running install.bat and run_app.bat]</a:t>
            </a:r>
          </a:p>
        </p:txBody>
      </p:sp>
      <p:sp>
        <p:nvSpPr>
          <p:cNvPr id="16" name="TextBox 15"/>
          <p:cNvSpPr txBox="1"/>
          <p:nvPr/>
        </p:nvSpPr>
        <p:spPr>
          <a:xfrm>
            <a:off x="640080" y="5852160"/>
            <a:ext cx="10972800" cy="457200"/>
          </a:xfrm>
          <a:prstGeom prst="rect">
            <a:avLst/>
          </a:prstGeom>
          <a:noFill/>
        </p:spPr>
        <p:txBody>
          <a:bodyPr wrap="square" anchor="t" lIns="45720" rIns="45720" tIns="27432" bIns="27432">
            <a:spAutoFit/>
          </a:bodyPr>
          <a:lstStyle/>
          <a:p>
            <a:pPr algn="l"/>
            <a:r>
              <a:rPr sz="1300" b="0">
                <a:solidFill>
                  <a:srgbClr val="B4AED0"/>
                </a:solidFill>
                <a:latin typeface="Calibri"/>
              </a:rPr>
              <a:t>Unit tests and the service demo were run in the development environment (Linux), not on Windows.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0B22"/>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9B8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65760"/>
          </a:xfrm>
          <a:prstGeom prst="rect">
            <a:avLst/>
          </a:prstGeom>
          <a:noFill/>
        </p:spPr>
        <p:txBody>
          <a:bodyPr wrap="square" anchor="t" lIns="45720" rIns="45720" tIns="27432" bIns="27432">
            <a:spAutoFit/>
          </a:bodyPr>
          <a:lstStyle/>
          <a:p>
            <a:pPr algn="l"/>
            <a:r>
              <a:rPr sz="1300" b="1">
                <a:solidFill>
                  <a:srgbClr val="F2C14E"/>
                </a:solidFill>
                <a:latin typeface="Calibri"/>
              </a:rPr>
              <a:t>NEXT STEPS</a:t>
            </a:r>
          </a:p>
        </p:txBody>
      </p:sp>
      <p:sp>
        <p:nvSpPr>
          <p:cNvPr id="4" name="TextBox 3"/>
          <p:cNvSpPr txBox="1"/>
          <p:nvPr/>
        </p:nvSpPr>
        <p:spPr>
          <a:xfrm>
            <a:off x="640080" y="640080"/>
            <a:ext cx="10789920" cy="822960"/>
          </a:xfrm>
          <a:prstGeom prst="rect">
            <a:avLst/>
          </a:prstGeom>
          <a:noFill/>
        </p:spPr>
        <p:txBody>
          <a:bodyPr wrap="square" anchor="t" lIns="45720" rIns="45720" tIns="27432" bIns="27432">
            <a:spAutoFit/>
          </a:bodyPr>
          <a:lstStyle/>
          <a:p>
            <a:pPr algn="l"/>
            <a:r>
              <a:rPr sz="3800" b="1">
                <a:solidFill>
                  <a:srgbClr val="F1EEFB"/>
                </a:solidFill>
                <a:latin typeface="Calibri"/>
              </a:rPr>
              <a:t>Advantages and future scope</a:t>
            </a:r>
          </a:p>
        </p:txBody>
      </p:sp>
      <p:sp>
        <p:nvSpPr>
          <p:cNvPr id="5" name="TextBox 4"/>
          <p:cNvSpPr txBox="1"/>
          <p:nvPr/>
        </p:nvSpPr>
        <p:spPr>
          <a:xfrm>
            <a:off x="10607040" y="6400800"/>
            <a:ext cx="1280160" cy="274320"/>
          </a:xfrm>
          <a:prstGeom prst="rect">
            <a:avLst/>
          </a:prstGeom>
          <a:noFill/>
        </p:spPr>
        <p:txBody>
          <a:bodyPr wrap="square" anchor="t" lIns="45720" rIns="45720" tIns="27432" bIns="27432">
            <a:spAutoFit/>
          </a:bodyPr>
          <a:lstStyle/>
          <a:p>
            <a:pPr algn="r"/>
            <a:r>
              <a:rPr sz="1100" b="0">
                <a:solidFill>
                  <a:srgbClr val="B4AED0"/>
                </a:solidFill>
                <a:latin typeface="Calibri"/>
              </a:rPr>
              <a:t>17 / 18</a:t>
            </a:r>
          </a:p>
        </p:txBody>
      </p:sp>
      <p:sp>
        <p:nvSpPr>
          <p:cNvPr id="6" name="TextBox 5"/>
          <p:cNvSpPr txBox="1"/>
          <p:nvPr/>
        </p:nvSpPr>
        <p:spPr>
          <a:xfrm>
            <a:off x="640080" y="6400800"/>
            <a:ext cx="7315200" cy="274320"/>
          </a:xfrm>
          <a:prstGeom prst="rect">
            <a:avLst/>
          </a:prstGeom>
          <a:noFill/>
        </p:spPr>
        <p:txBody>
          <a:bodyPr wrap="square" anchor="t" lIns="45720" rIns="45720" tIns="27432" bIns="27432">
            <a:spAutoFit/>
          </a:bodyPr>
          <a:lstStyle/>
          <a:p>
            <a:pPr algn="l"/>
            <a:r>
              <a:rPr sz="1100" b="0">
                <a:solidFill>
                  <a:srgbClr val="B4AED0"/>
                </a:solidFill>
                <a:latin typeface="Calibri"/>
              </a:rPr>
              <a:t>NetWatch | Computer Networks Mini Project</a:t>
            </a:r>
          </a:p>
        </p:txBody>
      </p:sp>
      <p:sp>
        <p:nvSpPr>
          <p:cNvPr id="7" name="Rounded Rectangle 6"/>
          <p:cNvSpPr/>
          <p:nvPr/>
        </p:nvSpPr>
        <p:spPr>
          <a:xfrm>
            <a:off x="640080" y="1737360"/>
            <a:ext cx="5303520" cy="4206240"/>
          </a:xfrm>
          <a:prstGeom prst="roundRect">
            <a:avLst>
              <a:gd name="adj" fmla="val 8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874519"/>
            <a:ext cx="4937759" cy="457200"/>
          </a:xfrm>
          <a:prstGeom prst="rect">
            <a:avLst/>
          </a:prstGeom>
          <a:noFill/>
        </p:spPr>
        <p:txBody>
          <a:bodyPr wrap="square" anchor="t" lIns="45720" rIns="45720" tIns="27432" bIns="27432">
            <a:spAutoFit/>
          </a:bodyPr>
          <a:lstStyle/>
          <a:p>
            <a:pPr algn="l"/>
            <a:r>
              <a:rPr sz="2000" b="1">
                <a:solidFill>
                  <a:srgbClr val="4ADE80"/>
                </a:solidFill>
                <a:latin typeface="Calibri"/>
              </a:rPr>
              <a:t>Advantages</a:t>
            </a:r>
          </a:p>
        </p:txBody>
      </p:sp>
      <p:sp>
        <p:nvSpPr>
          <p:cNvPr id="9" name="TextBox 8"/>
          <p:cNvSpPr txBox="1"/>
          <p:nvPr/>
        </p:nvSpPr>
        <p:spPr>
          <a:xfrm>
            <a:off x="822959" y="2423160"/>
            <a:ext cx="4937759" cy="3383279"/>
          </a:xfrm>
          <a:prstGeom prst="rect">
            <a:avLst/>
          </a:prstGeom>
          <a:noFill/>
        </p:spPr>
        <p:txBody>
          <a:bodyPr wrap="square" anchor="t" lIns="45720" rIns="45720" tIns="27432" bIns="27432">
            <a:spAutoFit/>
          </a:bodyPr>
          <a:lstStyle/>
          <a:p>
            <a:pPr algn="l"/>
            <a:r>
              <a:rPr sz="2600" b="0">
                <a:solidFill>
                  <a:srgbClr val="F1EEFB"/>
                </a:solidFill>
                <a:latin typeface="Calibri"/>
              </a:rPr>
              <a:t>Free and light</a:t>
            </a:r>
          </a:p>
          <a:p>
            <a:pPr algn="l">
              <a:spcBef>
                <a:spcPts val="800"/>
              </a:spcBef>
            </a:pPr>
            <a:r>
              <a:rPr sz="2600" b="0">
                <a:solidFill>
                  <a:srgbClr val="F1EEFB"/>
                </a:solidFill>
                <a:latin typeface="Calibri"/>
              </a:rPr>
              <a:t>Real measurements</a:t>
            </a:r>
          </a:p>
          <a:p>
            <a:pPr algn="l">
              <a:spcBef>
                <a:spcPts val="800"/>
              </a:spcBef>
            </a:pPr>
            <a:r>
              <a:rPr sz="2600" b="0">
                <a:solidFill>
                  <a:srgbClr val="F1EEFB"/>
                </a:solidFill>
                <a:latin typeface="Calibri"/>
              </a:rPr>
              <a:t>Simple to explain</a:t>
            </a:r>
          </a:p>
          <a:p>
            <a:pPr algn="l">
              <a:spcBef>
                <a:spcPts val="800"/>
              </a:spcBef>
            </a:pPr>
            <a:r>
              <a:rPr sz="2600" b="0">
                <a:solidFill>
                  <a:srgbClr val="F1EEFB"/>
                </a:solidFill>
                <a:latin typeface="Calibri"/>
              </a:rPr>
              <a:t>Safe: no scanning or sniffing</a:t>
            </a:r>
          </a:p>
        </p:txBody>
      </p:sp>
      <p:sp>
        <p:nvSpPr>
          <p:cNvPr id="10" name="Rounded Rectangle 9"/>
          <p:cNvSpPr/>
          <p:nvPr/>
        </p:nvSpPr>
        <p:spPr>
          <a:xfrm>
            <a:off x="6217920" y="1737360"/>
            <a:ext cx="5303520" cy="4206240"/>
          </a:xfrm>
          <a:prstGeom prst="roundRect">
            <a:avLst>
              <a:gd name="adj" fmla="val 8000"/>
            </a:avLst>
          </a:prstGeom>
          <a:solidFill>
            <a:srgbClr val="221B45"/>
          </a:solidFill>
          <a:ln w="19050">
            <a:solidFill>
              <a:srgbClr val="9B8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874519"/>
            <a:ext cx="4937759" cy="457200"/>
          </a:xfrm>
          <a:prstGeom prst="rect">
            <a:avLst/>
          </a:prstGeom>
          <a:noFill/>
        </p:spPr>
        <p:txBody>
          <a:bodyPr wrap="square" anchor="t" lIns="45720" rIns="45720" tIns="27432" bIns="27432">
            <a:spAutoFit/>
          </a:bodyPr>
          <a:lstStyle/>
          <a:p>
            <a:pPr algn="l"/>
            <a:r>
              <a:rPr sz="2000" b="1">
                <a:solidFill>
                  <a:srgbClr val="F2C14E"/>
                </a:solidFill>
                <a:latin typeface="Calibri"/>
              </a:rPr>
              <a:t>Future scope</a:t>
            </a:r>
          </a:p>
        </p:txBody>
      </p:sp>
      <p:sp>
        <p:nvSpPr>
          <p:cNvPr id="12" name="TextBox 11"/>
          <p:cNvSpPr txBox="1"/>
          <p:nvPr/>
        </p:nvSpPr>
        <p:spPr>
          <a:xfrm>
            <a:off x="6400800" y="2423160"/>
            <a:ext cx="4937759" cy="3383279"/>
          </a:xfrm>
          <a:prstGeom prst="rect">
            <a:avLst/>
          </a:prstGeom>
          <a:noFill/>
        </p:spPr>
        <p:txBody>
          <a:bodyPr wrap="square" anchor="t" lIns="45720" rIns="45720" tIns="27432" bIns="27432">
            <a:spAutoFit/>
          </a:bodyPr>
          <a:lstStyle/>
          <a:p>
            <a:pPr algn="l"/>
            <a:r>
              <a:rPr sz="2600" b="0">
                <a:solidFill>
                  <a:srgbClr val="F1EEFB"/>
                </a:solidFill>
                <a:latin typeface="Calibri"/>
              </a:rPr>
              <a:t>SNMP and many devices</a:t>
            </a:r>
          </a:p>
          <a:p>
            <a:pPr algn="l">
              <a:spcBef>
                <a:spcPts val="800"/>
              </a:spcBef>
            </a:pPr>
            <a:r>
              <a:rPr sz="2600" b="0">
                <a:solidFill>
                  <a:srgbClr val="F1EEFB"/>
                </a:solidFill>
                <a:latin typeface="Calibri"/>
              </a:rPr>
              <a:t>Database for history</a:t>
            </a:r>
          </a:p>
          <a:p>
            <a:pPr algn="l">
              <a:spcBef>
                <a:spcPts val="800"/>
              </a:spcBef>
            </a:pPr>
            <a:r>
              <a:rPr sz="2600" b="0">
                <a:solidFill>
                  <a:srgbClr val="F1EEFB"/>
                </a:solidFill>
                <a:latin typeface="Calibri"/>
              </a:rPr>
              <a:t>Email / SMS alerts</a:t>
            </a:r>
          </a:p>
          <a:p>
            <a:pPr algn="l">
              <a:spcBef>
                <a:spcPts val="800"/>
              </a:spcBef>
            </a:pPr>
            <a:r>
              <a:rPr sz="2600" b="0">
                <a:solidFill>
                  <a:srgbClr val="F1EEFB"/>
                </a:solidFill>
                <a:latin typeface="Calibri"/>
              </a:rPr>
              <a:t>Grafana integration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0B22"/>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9B8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65760"/>
          </a:xfrm>
          <a:prstGeom prst="rect">
            <a:avLst/>
          </a:prstGeom>
          <a:noFill/>
        </p:spPr>
        <p:txBody>
          <a:bodyPr wrap="square" anchor="t" lIns="45720" rIns="45720" tIns="27432" bIns="27432">
            <a:spAutoFit/>
          </a:bodyPr>
          <a:lstStyle/>
          <a:p>
            <a:pPr algn="l"/>
            <a:r>
              <a:rPr sz="1300" b="1">
                <a:solidFill>
                  <a:srgbClr val="F2C14E"/>
                </a:solidFill>
                <a:latin typeface="Calibri"/>
              </a:rPr>
              <a:t>SUMMARY</a:t>
            </a:r>
          </a:p>
        </p:txBody>
      </p:sp>
      <p:sp>
        <p:nvSpPr>
          <p:cNvPr id="4" name="TextBox 3"/>
          <p:cNvSpPr txBox="1"/>
          <p:nvPr/>
        </p:nvSpPr>
        <p:spPr>
          <a:xfrm>
            <a:off x="640080" y="640080"/>
            <a:ext cx="10789920" cy="822960"/>
          </a:xfrm>
          <a:prstGeom prst="rect">
            <a:avLst/>
          </a:prstGeom>
          <a:noFill/>
        </p:spPr>
        <p:txBody>
          <a:bodyPr wrap="square" anchor="t" lIns="45720" rIns="45720" tIns="27432" bIns="27432">
            <a:spAutoFit/>
          </a:bodyPr>
          <a:lstStyle/>
          <a:p>
            <a:pPr algn="l"/>
            <a:r>
              <a:rPr sz="3800" b="1">
                <a:solidFill>
                  <a:srgbClr val="F1EEFB"/>
                </a:solidFill>
                <a:latin typeface="Calibri"/>
              </a:rPr>
              <a:t>Conclusion</a:t>
            </a:r>
          </a:p>
        </p:txBody>
      </p:sp>
      <p:sp>
        <p:nvSpPr>
          <p:cNvPr id="5" name="TextBox 4"/>
          <p:cNvSpPr txBox="1"/>
          <p:nvPr/>
        </p:nvSpPr>
        <p:spPr>
          <a:xfrm>
            <a:off x="10607040" y="6400800"/>
            <a:ext cx="1280160" cy="274320"/>
          </a:xfrm>
          <a:prstGeom prst="rect">
            <a:avLst/>
          </a:prstGeom>
          <a:noFill/>
        </p:spPr>
        <p:txBody>
          <a:bodyPr wrap="square" anchor="t" lIns="45720" rIns="45720" tIns="27432" bIns="27432">
            <a:spAutoFit/>
          </a:bodyPr>
          <a:lstStyle/>
          <a:p>
            <a:pPr algn="r"/>
            <a:r>
              <a:rPr sz="1100" b="0">
                <a:solidFill>
                  <a:srgbClr val="B4AED0"/>
                </a:solidFill>
                <a:latin typeface="Calibri"/>
              </a:rPr>
              <a:t>18 / 18</a:t>
            </a:r>
          </a:p>
        </p:txBody>
      </p:sp>
      <p:sp>
        <p:nvSpPr>
          <p:cNvPr id="6" name="TextBox 5"/>
          <p:cNvSpPr txBox="1"/>
          <p:nvPr/>
        </p:nvSpPr>
        <p:spPr>
          <a:xfrm>
            <a:off x="640080" y="6400800"/>
            <a:ext cx="7315200" cy="274320"/>
          </a:xfrm>
          <a:prstGeom prst="rect">
            <a:avLst/>
          </a:prstGeom>
          <a:noFill/>
        </p:spPr>
        <p:txBody>
          <a:bodyPr wrap="square" anchor="t" lIns="45720" rIns="45720" tIns="27432" bIns="27432">
            <a:spAutoFit/>
          </a:bodyPr>
          <a:lstStyle/>
          <a:p>
            <a:pPr algn="l"/>
            <a:r>
              <a:rPr sz="1100" b="0">
                <a:solidFill>
                  <a:srgbClr val="B4AED0"/>
                </a:solidFill>
                <a:latin typeface="Calibri"/>
              </a:rPr>
              <a:t>NetWatch | Computer Networks Mini Project</a:t>
            </a:r>
          </a:p>
        </p:txBody>
      </p:sp>
      <p:sp>
        <p:nvSpPr>
          <p:cNvPr id="7" name="TextBox 6"/>
          <p:cNvSpPr txBox="1"/>
          <p:nvPr/>
        </p:nvSpPr>
        <p:spPr>
          <a:xfrm>
            <a:off x="640080" y="1828800"/>
            <a:ext cx="10881360" cy="2377440"/>
          </a:xfrm>
          <a:prstGeom prst="rect">
            <a:avLst/>
          </a:prstGeom>
          <a:noFill/>
        </p:spPr>
        <p:txBody>
          <a:bodyPr wrap="square" anchor="t" lIns="45720" rIns="45720" tIns="27432" bIns="27432">
            <a:spAutoFit/>
          </a:bodyPr>
          <a:lstStyle/>
          <a:p>
            <a:pPr algn="l"/>
            <a:r>
              <a:rPr sz="2800" b="0">
                <a:solidFill>
                  <a:srgbClr val="F1EEFB"/>
                </a:solidFill>
                <a:latin typeface="Calibri"/>
              </a:rPr>
              <a:t>NetWatch turns Computer Networks concepts into a practical tool.</a:t>
            </a:r>
          </a:p>
          <a:p>
            <a:pPr algn="l">
              <a:spcBef>
                <a:spcPts val="800"/>
              </a:spcBef>
            </a:pPr>
            <a:r>
              <a:rPr sz="2800" b="0">
                <a:solidFill>
                  <a:srgbClr val="F1EEFB"/>
                </a:solidFill>
                <a:latin typeface="Calibri"/>
              </a:rPr>
              <a:t>It shows where a basic network problem may be, and when it started.</a:t>
            </a:r>
          </a:p>
        </p:txBody>
      </p:sp>
      <p:sp>
        <p:nvSpPr>
          <p:cNvPr id="8" name="Rounded Rectangle 7"/>
          <p:cNvSpPr/>
          <p:nvPr/>
        </p:nvSpPr>
        <p:spPr>
          <a:xfrm>
            <a:off x="640080" y="4572000"/>
            <a:ext cx="10881360" cy="1005840"/>
          </a:xfrm>
          <a:prstGeom prst="roundRect">
            <a:avLst/>
          </a:prstGeom>
          <a:solidFill>
            <a:srgbClr val="4A3A10"/>
          </a:solidFill>
          <a:ln w="19050">
            <a:solidFill>
              <a:srgbClr val="F2C1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4572000"/>
            <a:ext cx="10881360" cy="1005840"/>
          </a:xfrm>
          <a:prstGeom prst="rect">
            <a:avLst/>
          </a:prstGeom>
          <a:noFill/>
        </p:spPr>
        <p:txBody>
          <a:bodyPr wrap="square" anchor="ctr" lIns="45720" rIns="45720" tIns="27432" bIns="27432">
            <a:spAutoFit/>
          </a:bodyPr>
          <a:lstStyle/>
          <a:p>
            <a:pPr algn="ctr"/>
            <a:r>
              <a:rPr sz="3400" b="1">
                <a:solidFill>
                  <a:srgbClr val="F2C14E"/>
                </a:solidFill>
                <a:latin typeface="Calibri"/>
              </a:rPr>
              <a:t>Thank you.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